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72" r:id="rId4"/>
    <p:sldId id="259" r:id="rId5"/>
    <p:sldId id="260" r:id="rId6"/>
    <p:sldId id="273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15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4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778240" cy="8229600"/>
          </a:xfrm>
          <a:prstGeom prst="rect">
            <a:avLst/>
          </a:prstGeom>
          <a:solidFill>
            <a:srgbClr val="08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6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0" y="0"/>
            <a:ext cx="54864" cy="8229600"/>
          </a:xfrm>
          <a:prstGeom prst="rect">
            <a:avLst/>
          </a:prstGeom>
          <a:solidFill>
            <a:srgbClr val="00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321040" y="0"/>
            <a:ext cx="54864" cy="8229600"/>
          </a:xfrm>
          <a:prstGeom prst="rect">
            <a:avLst/>
          </a:prstGeom>
          <a:solidFill>
            <a:srgbClr val="004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412480" y="0"/>
            <a:ext cx="54864" cy="8229600"/>
          </a:xfrm>
          <a:prstGeom prst="rect">
            <a:avLst/>
          </a:prstGeom>
          <a:solidFill>
            <a:srgbClr val="00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503920" y="0"/>
            <a:ext cx="54864" cy="822960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595360" y="0"/>
            <a:ext cx="54864" cy="8229600"/>
          </a:xfrm>
          <a:prstGeom prst="rect">
            <a:avLst/>
          </a:prstGeom>
          <a:solidFill>
            <a:srgbClr val="003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0" y="0"/>
            <a:ext cx="54864" cy="8229600"/>
          </a:xfrm>
          <a:prstGeom prst="rect">
            <a:avLst/>
          </a:prstGeom>
          <a:solidFill>
            <a:srgbClr val="003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778240" y="0"/>
            <a:ext cx="54864" cy="8229600"/>
          </a:xfrm>
          <a:prstGeom prst="rect">
            <a:avLst/>
          </a:prstGeom>
          <a:solidFill>
            <a:srgbClr val="002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869680" y="0"/>
            <a:ext cx="54864" cy="8229600"/>
          </a:xfrm>
          <a:prstGeom prst="rect">
            <a:avLst/>
          </a:prstGeom>
          <a:solidFill>
            <a:srgbClr val="002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961120" y="0"/>
            <a:ext cx="5669280" cy="8229600"/>
          </a:xfrm>
          <a:prstGeom prst="rect">
            <a:avLst/>
          </a:prstGeom>
          <a:solidFill>
            <a:srgbClr val="05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-2286000" y="3200400"/>
            <a:ext cx="6400800" cy="6400800"/>
          </a:xfrm>
          <a:prstGeom prst="ellipse">
            <a:avLst/>
          </a:prstGeom>
          <a:solidFill>
            <a:srgbClr val="00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-1645920" y="3840480"/>
            <a:ext cx="5120640" cy="5120640"/>
          </a:xfrm>
          <a:prstGeom prst="ellipse">
            <a:avLst/>
          </a:prstGeom>
          <a:solidFill>
            <a:srgbClr val="0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-1005840" y="4480560"/>
            <a:ext cx="3840480" cy="3840480"/>
          </a:xfrm>
          <a:prstGeom prst="ellipse">
            <a:avLst/>
          </a:prstGeom>
          <a:solidFill>
            <a:srgbClr val="00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2710160" y="320040"/>
            <a:ext cx="475488" cy="475488"/>
          </a:xfrm>
          <a:prstGeom prst="ellipse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3350240" y="685800"/>
            <a:ext cx="292608" cy="292608"/>
          </a:xfrm>
          <a:prstGeom prst="ellipse">
            <a:avLst/>
          </a:prstGeom>
          <a:solidFill>
            <a:srgbClr val="0055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2344400" y="749808"/>
            <a:ext cx="201168" cy="201168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3807440" y="228600"/>
            <a:ext cx="164592" cy="164592"/>
          </a:xfrm>
          <a:prstGeom prst="ellipse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5488" y="1170432"/>
            <a:ext cx="3474720" cy="29260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064" y="1179576"/>
            <a:ext cx="31821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Calibri"/>
              </a:rPr>
              <a:t>DATA ANALYTICS PROJECT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1600200"/>
            <a:ext cx="80467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0" b="1" i="1" dirty="0">
                <a:solidFill>
                  <a:srgbClr val="708096"/>
                </a:solidFill>
              </a:rPr>
              <a:t>ElectViz: Election Data</a:t>
            </a:r>
            <a:endParaRPr sz="4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56329" y="2208494"/>
            <a:ext cx="80467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0" b="1" i="1" dirty="0">
                <a:solidFill>
                  <a:srgbClr val="0070C0"/>
                </a:solidFill>
              </a:rPr>
              <a:t>Visualization for Media</a:t>
            </a:r>
            <a:endParaRPr sz="4400" b="1" i="0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75488" y="3840480"/>
            <a:ext cx="4389120" cy="457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956048" y="3840480"/>
            <a:ext cx="3474720" cy="45720"/>
          </a:xfrm>
          <a:prstGeom prst="rect">
            <a:avLst/>
          </a:prstGeom>
          <a:solidFill>
            <a:srgbClr val="14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5488" y="3986784"/>
            <a:ext cx="8046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7890AA"/>
                </a:solidFill>
                <a:latin typeface="Calibri"/>
              </a:rPr>
              <a:t>Power BI Analytics  ·  Lok Sabha · Vidhan Sabha · Bypoll  ·  1951–2025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6840" y="1234440"/>
            <a:ext cx="5166360" cy="1234440"/>
          </a:xfrm>
          <a:prstGeom prst="rect">
            <a:avLst/>
          </a:prstGeom>
          <a:solidFill>
            <a:srgbClr val="071226"/>
          </a:solidFill>
          <a:ln w="15240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006840" y="1234440"/>
            <a:ext cx="82296" cy="123444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17152" y="132588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0077CC"/>
                </a:solidFill>
                <a:latin typeface="Calibri"/>
              </a:rPr>
              <a:t>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17152" y="194767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890AA"/>
                </a:solidFill>
                <a:latin typeface="Calibri"/>
              </a:rPr>
              <a:t>States &amp; UTs Covered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06840" y="2624328"/>
            <a:ext cx="5166360" cy="1234440"/>
          </a:xfrm>
          <a:prstGeom prst="rect">
            <a:avLst/>
          </a:prstGeom>
          <a:solidFill>
            <a:srgbClr val="071226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006840" y="2624328"/>
            <a:ext cx="82296" cy="12344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17152" y="2715768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39C12"/>
                </a:solidFill>
                <a:latin typeface="Calibri"/>
              </a:rPr>
              <a:t>27,415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7152" y="33375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890AA"/>
                </a:solidFill>
                <a:latin typeface="Calibri"/>
              </a:rPr>
              <a:t>Election Records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06840" y="4014216"/>
            <a:ext cx="5166360" cy="1234440"/>
          </a:xfrm>
          <a:prstGeom prst="rect">
            <a:avLst/>
          </a:prstGeom>
          <a:solidFill>
            <a:srgbClr val="071226"/>
          </a:solidFill>
          <a:ln w="1524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006840" y="4014216"/>
            <a:ext cx="82296" cy="1234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17152" y="4105656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27AE60"/>
                </a:solidFill>
                <a:latin typeface="Calibri"/>
              </a:rPr>
              <a:t>1951–2025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4727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7890AA"/>
                </a:solidFill>
                <a:latin typeface="Calibri"/>
              </a:rPr>
              <a:t>Year Range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5788152"/>
            <a:ext cx="14630400" cy="2258568"/>
          </a:xfrm>
          <a:prstGeom prst="rect">
            <a:avLst/>
          </a:prstGeom>
          <a:solidFill>
            <a:srgbClr val="05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0" y="5742432"/>
            <a:ext cx="14630400" cy="4114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" y="5852160"/>
            <a:ext cx="2743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77CC"/>
                </a:solidFill>
                <a:latin typeface="Calibri"/>
              </a:rPr>
              <a:t>TEAM MEMBERS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181344"/>
            <a:ext cx="2542032" cy="38404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02920" y="6181344"/>
            <a:ext cx="25420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Hamiz </a:t>
            </a:r>
            <a:r>
              <a:rPr lang="en-IN" sz="1400" b="1" i="0" dirty="0">
                <a:solidFill>
                  <a:srgbClr val="FFFFFF"/>
                </a:solidFill>
                <a:latin typeface="Calibri"/>
              </a:rPr>
              <a:t>K 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(Team Lead)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27832" y="6181344"/>
            <a:ext cx="1389888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227832" y="6181344"/>
            <a:ext cx="13898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Karishma</a:t>
            </a:r>
            <a:r>
              <a:rPr lang="en-IN" sz="1400" b="1" i="0" dirty="0">
                <a:solidFill>
                  <a:srgbClr val="FFFFFF"/>
                </a:solidFill>
                <a:latin typeface="Calibri"/>
              </a:rPr>
              <a:t> N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800600" y="6181344"/>
            <a:ext cx="1280160" cy="38404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800600" y="6181344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Vennela</a:t>
            </a:r>
            <a:r>
              <a:rPr lang="en-IN" sz="1400" b="1" i="0" dirty="0">
                <a:solidFill>
                  <a:srgbClr val="FFFFFF"/>
                </a:solidFill>
                <a:latin typeface="Calibri"/>
              </a:rPr>
              <a:t> P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6263640" y="6181344"/>
            <a:ext cx="1280160" cy="384048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63640" y="6181344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Aman</a:t>
            </a:r>
            <a:r>
              <a:rPr lang="en-IN" sz="1400" b="1" i="0" dirty="0">
                <a:solidFill>
                  <a:srgbClr val="FFFFFF"/>
                </a:solidFill>
                <a:latin typeface="Calibri"/>
              </a:rPr>
              <a:t> A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726680" y="6181344"/>
            <a:ext cx="1517904" cy="38404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726680" y="6181344"/>
            <a:ext cx="15179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  <a:latin typeface="Calibri"/>
              </a:rPr>
              <a:t>Gajavadan</a:t>
            </a:r>
            <a:r>
              <a:rPr lang="en-IN" sz="1400" b="1" i="0" dirty="0">
                <a:solidFill>
                  <a:srgbClr val="FFFFFF"/>
                </a:solidFill>
                <a:latin typeface="Calibri"/>
              </a:rPr>
              <a:t> T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10424160" y="5897880"/>
            <a:ext cx="3749039" cy="1481328"/>
          </a:xfrm>
          <a:prstGeom prst="rect">
            <a:avLst/>
          </a:prstGeom>
          <a:solidFill>
            <a:srgbClr val="071226"/>
          </a:solidFill>
          <a:ln w="12700">
            <a:solidFill>
              <a:srgbClr val="102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0" y="8138160"/>
            <a:ext cx="14630400" cy="9144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411480" y="182880"/>
            <a:ext cx="64008" cy="65836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411480" y="800100"/>
            <a:ext cx="2880360" cy="4114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6385EDE-9CAD-C2A0-6650-F090FA46D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6407" y="5982965"/>
            <a:ext cx="3096394" cy="12664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" y="12192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0058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4008"/>
            <a:ext cx="1188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43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B0C4DE"/>
                </a:solidFill>
                <a:latin typeface="Calibri"/>
              </a:rPr>
              <a:t>Why does the </a:t>
            </a:r>
            <a:r>
              <a:rPr lang="en-IN" sz="1400" b="0" i="0" dirty="0">
                <a:solidFill>
                  <a:srgbClr val="B0C4DE"/>
                </a:solidFill>
                <a:latin typeface="Calibri"/>
              </a:rPr>
              <a:t>dataset</a:t>
            </a:r>
            <a:r>
              <a:rPr sz="1400" b="0" i="0" dirty="0">
                <a:solidFill>
                  <a:srgbClr val="B0C4DE"/>
                </a:solidFill>
                <a:latin typeface="Calibri"/>
              </a:rPr>
              <a:t> need a unified election analytics system?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001000"/>
            <a:ext cx="14630400" cy="228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8001000"/>
            <a:ext cx="14630400" cy="9144"/>
          </a:xfrm>
          <a:prstGeom prst="rect">
            <a:avLst/>
          </a:prstGeom>
          <a:solidFill>
            <a:srgbClr val="D0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8028431"/>
            <a:ext cx="1234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708096"/>
                </a:solidFill>
                <a:latin typeface="Calibri"/>
              </a:rPr>
              <a:t>ElectViz: Election Data Visualization for Media  ·  Infosys Springboard  ·  February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0" y="8028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IN" sz="1000" dirty="0">
                <a:solidFill>
                  <a:srgbClr val="708096"/>
                </a:solidFill>
                <a:latin typeface="Calibri"/>
              </a:rPr>
              <a:t>2/18</a:t>
            </a:r>
            <a:r>
              <a:rPr sz="1000" b="0" i="0" dirty="0">
                <a:solidFill>
                  <a:srgbClr val="708096"/>
                </a:solidFill>
                <a:latin typeface="Calibri"/>
              </a:rPr>
              <a:t>2/18</a:t>
            </a:r>
            <a:r>
              <a:rPr lang="en-IN" sz="1000" b="0" i="0" dirty="0">
                <a:solidFill>
                  <a:srgbClr val="708096"/>
                </a:solidFill>
                <a:latin typeface="Calibri"/>
              </a:rPr>
              <a:t>2/18</a:t>
            </a:r>
            <a:endParaRPr sz="800" b="0" i="0" dirty="0">
              <a:solidFill>
                <a:srgbClr val="708096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1261872"/>
            <a:ext cx="3291840" cy="379476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261872"/>
            <a:ext cx="3291840" cy="5486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3898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1A2230"/>
                </a:solidFill>
                <a:latin typeface="Calibri"/>
              </a:rPr>
              <a:t>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1956816"/>
            <a:ext cx="3035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A1A44"/>
                </a:solidFill>
                <a:latin typeface="Calibri"/>
              </a:rPr>
              <a:t>Fragmented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2340864"/>
            <a:ext cx="296265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30"/>
                </a:solidFill>
                <a:latin typeface="Calibri"/>
              </a:rPr>
              <a:t>Data spread across 36+ portals, formats, and state archives with no unified access point.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77056" y="1261872"/>
            <a:ext cx="3291840" cy="379476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877056" y="1261872"/>
            <a:ext cx="3291840" cy="5486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877056" y="13898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1A2230"/>
                </a:solidFill>
                <a:latin typeface="Calibri"/>
              </a:rPr>
              <a:t>⚠️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5072" y="1956816"/>
            <a:ext cx="3035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A1A44"/>
                </a:solidFill>
                <a:latin typeface="Calibri"/>
              </a:rPr>
              <a:t>Data Inconsistency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41648" y="2340864"/>
            <a:ext cx="296265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30"/>
                </a:solidFill>
                <a:latin typeface="Calibri"/>
              </a:rPr>
              <a:t>Column names, encodings, and abbreviations differ drastically across elections and years.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96912" y="1261872"/>
            <a:ext cx="3291840" cy="379476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296912" y="1261872"/>
            <a:ext cx="3291840" cy="5486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96912" y="13898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1A2230"/>
                </a:solidFill>
                <a:latin typeface="Calibri"/>
              </a:rPr>
              <a:t>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8" y="1956816"/>
            <a:ext cx="30358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0A1A44"/>
                </a:solidFill>
                <a:latin typeface="Calibri"/>
              </a:rPr>
              <a:t>Not </a:t>
            </a:r>
            <a:r>
              <a:rPr lang="en-IN" sz="1600" b="1" i="0" dirty="0">
                <a:solidFill>
                  <a:srgbClr val="0A1A44"/>
                </a:solidFill>
                <a:latin typeface="Calibri"/>
              </a:rPr>
              <a:t>Media</a:t>
            </a:r>
            <a:r>
              <a:rPr sz="1600" b="1" i="0" dirty="0">
                <a:solidFill>
                  <a:srgbClr val="0A1A44"/>
                </a:solidFill>
                <a:latin typeface="Calibri"/>
              </a:rPr>
              <a:t>-Ready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2340864"/>
            <a:ext cx="296265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30"/>
                </a:solidFill>
                <a:latin typeface="Calibri"/>
              </a:rPr>
              <a:t>Raw CSVs cannot support live broadcast use, real-time filtering, or anchor-friendly views.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16768" y="1261872"/>
            <a:ext cx="3291840" cy="379476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716768" y="1261872"/>
            <a:ext cx="3291840" cy="5486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716768" y="138988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1A2230"/>
                </a:solidFill>
                <a:latin typeface="Calibri"/>
              </a:rPr>
              <a:t>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44784" y="1956816"/>
            <a:ext cx="3035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A1A44"/>
                </a:solidFill>
                <a:latin typeface="Calibri"/>
              </a:rPr>
              <a:t>No Unified 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2340864"/>
            <a:ext cx="2962656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A2230"/>
                </a:solidFill>
                <a:latin typeface="Calibri"/>
              </a:rPr>
              <a:t>Cross-analysis of L</a:t>
            </a:r>
            <a:r>
              <a:rPr lang="en-IN" sz="1400" b="0" i="0" dirty="0">
                <a:solidFill>
                  <a:srgbClr val="1A2230"/>
                </a:solidFill>
                <a:latin typeface="Calibri"/>
              </a:rPr>
              <a:t>ok</a:t>
            </a:r>
            <a:r>
              <a:rPr sz="1400" b="0" i="0" dirty="0">
                <a:solidFill>
                  <a:srgbClr val="1A2230"/>
                </a:solidFill>
                <a:latin typeface="Calibri"/>
              </a:rPr>
              <a:t>S</a:t>
            </a:r>
            <a:r>
              <a:rPr lang="en-IN" sz="1400" b="0" i="0" dirty="0" err="1">
                <a:solidFill>
                  <a:srgbClr val="1A2230"/>
                </a:solidFill>
                <a:latin typeface="Calibri"/>
              </a:rPr>
              <a:t>abha</a:t>
            </a:r>
            <a:r>
              <a:rPr sz="1400" b="0" i="0" dirty="0">
                <a:solidFill>
                  <a:srgbClr val="1A2230"/>
                </a:solidFill>
                <a:latin typeface="Calibri"/>
              </a:rPr>
              <a:t> + V</a:t>
            </a:r>
            <a:r>
              <a:rPr lang="en-IN" sz="1400" b="0" i="0" dirty="0" err="1">
                <a:solidFill>
                  <a:srgbClr val="1A2230"/>
                </a:solidFill>
                <a:latin typeface="Calibri"/>
              </a:rPr>
              <a:t>idhan</a:t>
            </a:r>
            <a:r>
              <a:rPr sz="1400" b="0" i="0" dirty="0">
                <a:solidFill>
                  <a:srgbClr val="1A2230"/>
                </a:solidFill>
                <a:latin typeface="Calibri"/>
              </a:rPr>
              <a:t>S</a:t>
            </a:r>
            <a:r>
              <a:rPr lang="en-IN" sz="1400" b="0" i="0" dirty="0" err="1">
                <a:solidFill>
                  <a:srgbClr val="1A2230"/>
                </a:solidFill>
                <a:latin typeface="Calibri"/>
              </a:rPr>
              <a:t>abha</a:t>
            </a:r>
            <a:r>
              <a:rPr sz="1400" b="0" i="0" dirty="0">
                <a:solidFill>
                  <a:srgbClr val="1A2230"/>
                </a:solidFill>
                <a:latin typeface="Calibri"/>
              </a:rPr>
              <a:t> + </a:t>
            </a:r>
            <a:r>
              <a:rPr sz="1400" b="0" i="0" dirty="0" err="1">
                <a:solidFill>
                  <a:srgbClr val="1A2230"/>
                </a:solidFill>
                <a:latin typeface="Calibri"/>
              </a:rPr>
              <a:t>Bypoll</a:t>
            </a:r>
            <a:r>
              <a:rPr sz="1400" b="0" i="0" dirty="0">
                <a:solidFill>
                  <a:srgbClr val="1A2230"/>
                </a:solidFill>
                <a:latin typeface="Calibri"/>
              </a:rPr>
              <a:t> is impossible without consolidation into one model.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230368"/>
            <a:ext cx="13716000" cy="960120"/>
          </a:xfrm>
          <a:prstGeom prst="rect">
            <a:avLst/>
          </a:prstGeom>
          <a:solidFill>
            <a:srgbClr val="0A1A44"/>
          </a:solidFill>
          <a:ln w="19050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57200" y="5230368"/>
            <a:ext cx="82296" cy="96012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" y="5321808"/>
            <a:ext cx="13350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77CC"/>
                </a:solidFill>
                <a:latin typeface="Calibri"/>
              </a:rPr>
              <a:t>GOAL:  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Build a unified election analytics system that enables fast, accurate insights for media teams — covering all 36 states, all election types, 1951 to 2025.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355080"/>
            <a:ext cx="1371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0077CC"/>
                </a:solidFill>
                <a:latin typeface="Calibri"/>
              </a:rPr>
              <a:t>Raw election data → Broken.  We turned it into a unified analytics system.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004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System Architecture </a:t>
            </a:r>
            <a:r>
              <a:rPr lang="en-IN" dirty="0"/>
              <a:t>-</a:t>
            </a:r>
            <a:r>
              <a:rPr dirty="0"/>
              <a:t> Election Analytics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FD54F"/>
                </a:solidFill>
                <a:latin typeface="Segoe UI"/>
              </a:defRPr>
            </a:pPr>
            <a:r>
              <a:t>DATA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2011680" cy="64008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ECI Portal</a:t>
            </a:r>
            <a:br/>
            <a:r>
              <a:t>(eci.gov.in)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371600"/>
            <a:ext cx="2011680" cy="64008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State Election</a:t>
            </a:r>
            <a:br/>
            <a:r>
              <a:t>Commissions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371600"/>
            <a:ext cx="2011680" cy="64008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FC3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Historical</a:t>
            </a:r>
            <a:br/>
            <a:r>
              <a:t>Archives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39312" y="210312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sosceles Triangle 8"/>
          <p:cNvSpPr/>
          <p:nvPr/>
        </p:nvSpPr>
        <p:spPr>
          <a:xfrm>
            <a:off x="3566160" y="2377439"/>
            <a:ext cx="182880" cy="182880"/>
          </a:xfrm>
          <a:prstGeom prst="triangl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FD54F"/>
                </a:solidFill>
                <a:latin typeface="Segoe UI"/>
              </a:defRPr>
            </a:pPr>
            <a:r>
              <a:t>DATA PROCESSING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017520"/>
            <a:ext cx="2194560" cy="82296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Data Cleaning</a:t>
            </a:r>
            <a:br/>
            <a:r>
              <a:t>&amp; Pre-processing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3410712"/>
            <a:ext cx="320040" cy="36576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Isosceles Triangle 12"/>
          <p:cNvSpPr/>
          <p:nvPr/>
        </p:nvSpPr>
        <p:spPr>
          <a:xfrm rot="5400000">
            <a:off x="2999232" y="3337560"/>
            <a:ext cx="201168" cy="182880"/>
          </a:xfrm>
          <a:prstGeom prst="triangl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246120" y="3017520"/>
            <a:ext cx="2194560" cy="82296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Standardization</a:t>
            </a:r>
            <a:br/>
            <a:r>
              <a:t>(14-col Schema)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3410712"/>
            <a:ext cx="320040" cy="36576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Isosceles Triangle 15"/>
          <p:cNvSpPr/>
          <p:nvPr/>
        </p:nvSpPr>
        <p:spPr>
          <a:xfrm rot="5400000">
            <a:off x="5788152" y="3337560"/>
            <a:ext cx="201168" cy="182880"/>
          </a:xfrm>
          <a:prstGeom prst="triangl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035040" y="3017520"/>
            <a:ext cx="2377440" cy="82296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Party Name</a:t>
            </a:r>
            <a:br/>
            <a:r>
              <a:t>Normalization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9392" y="393192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Isosceles Triangle 18"/>
          <p:cNvSpPr/>
          <p:nvPr/>
        </p:nvSpPr>
        <p:spPr>
          <a:xfrm>
            <a:off x="4206240" y="4206240"/>
            <a:ext cx="182880" cy="182880"/>
          </a:xfrm>
          <a:prstGeom prst="triangl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4480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FD54F"/>
                </a:solidFill>
                <a:latin typeface="Segoe UI"/>
              </a:defRPr>
            </a:pPr>
            <a:r>
              <a:t>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46320"/>
            <a:ext cx="2743200" cy="82296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FF8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Merge 36 States</a:t>
            </a:r>
            <a:br/>
            <a:r>
              <a:t>+ Bypoll + LS/VS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5239512"/>
            <a:ext cx="320040" cy="36576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3547871" y="5166360"/>
            <a:ext cx="201168" cy="182880"/>
          </a:xfrm>
          <a:prstGeom prst="triangl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840480" y="4846320"/>
            <a:ext cx="2743200" cy="82296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FF8A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Master Dataset</a:t>
            </a:r>
            <a:br/>
            <a:r>
              <a:t>(CSV)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02352" y="5760720"/>
            <a:ext cx="36576" cy="32004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/>
          <p:cNvSpPr/>
          <p:nvPr/>
        </p:nvSpPr>
        <p:spPr>
          <a:xfrm>
            <a:off x="5029200" y="6035040"/>
            <a:ext cx="182880" cy="182880"/>
          </a:xfrm>
          <a:prstGeom prst="triangl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6309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FD54F"/>
                </a:solidFill>
                <a:latin typeface="Segoe UI"/>
              </a:defRPr>
            </a:pPr>
            <a:r>
              <a:t>ANALYTICS LAYER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675120"/>
            <a:ext cx="2560320" cy="82296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Power BI</a:t>
            </a:r>
            <a:br/>
            <a:r>
              <a:t>Data Model</a:t>
            </a:r>
            <a:br/>
            <a:r>
              <a:t>(Star Schema)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1005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FD54F"/>
                </a:solidFill>
                <a:latin typeface="Segoe UI"/>
              </a:defRPr>
            </a:pPr>
            <a:r>
              <a:t>DASHBOARD OUTPUTS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1371600"/>
            <a:ext cx="4114800" cy="59436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M2: Historical Trends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2148840"/>
            <a:ext cx="4114800" cy="59436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M3: Real-Time Results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0" y="2926080"/>
            <a:ext cx="4114800" cy="59436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M4: Turnout &amp; Demographics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0" y="3703320"/>
            <a:ext cx="4114800" cy="59436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M5: Party &amp; Candidate Tracker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7068312"/>
            <a:ext cx="5349240" cy="36576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Isosceles Triangle 34"/>
          <p:cNvSpPr/>
          <p:nvPr/>
        </p:nvSpPr>
        <p:spPr>
          <a:xfrm rot="5400000">
            <a:off x="8394192" y="6995160"/>
            <a:ext cx="201168" cy="182880"/>
          </a:xfrm>
          <a:prstGeom prst="triangle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0" y="7223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BBBBBB"/>
                </a:solidFill>
                <a:latin typeface="Segoe UI"/>
              </a:defRPr>
            </a:pPr>
            <a:r>
              <a:t>Feeds into all dashboards 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4754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FFD54F"/>
                </a:solidFill>
                <a:latin typeface="Segoe UI"/>
              </a:defRPr>
            </a:pPr>
            <a:r>
              <a:t>FINAL OUTPUTS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0" y="5120640"/>
            <a:ext cx="1920240" cy="64008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📁 Master</a:t>
            </a:r>
            <a:br/>
            <a:r>
              <a:t>Dataset CSV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789920" y="5120640"/>
            <a:ext cx="1920240" cy="64008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📊 Power BI</a:t>
            </a:r>
            <a:br/>
            <a:r>
              <a:t>Report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86800" y="5943600"/>
            <a:ext cx="1920240" cy="64008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📄 Final PPT</a:t>
            </a:r>
            <a:br/>
            <a:r>
              <a:t>Report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789920" y="5943600"/>
            <a:ext cx="1920240" cy="64008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🗂️ GitHub</a:t>
            </a:r>
            <a:br/>
            <a:r>
              <a:t>Repository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0" y="6858000"/>
            <a:ext cx="4114800" cy="64008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📺 Media Insights / Analysis Outputs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7726679"/>
            <a:ext cx="13716000" cy="13716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8640" y="77724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BBBBBB"/>
                </a:solidFill>
                <a:latin typeface="Segoe UI"/>
              </a:defRPr>
            </a:pPr>
            <a:r>
              <a:t>ElectViz: Election Data Visualization for Media  ·  Infosys Springboard  ·  February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BBBBBB"/>
                </a:solidFill>
                <a:latin typeface="Segoe UI"/>
              </a:defRPr>
            </a:pPr>
            <a:r>
              <a:t>3/18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0058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4008"/>
            <a:ext cx="1188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Project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End-to-end scope of what this project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001000"/>
            <a:ext cx="14630400" cy="228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8001000"/>
            <a:ext cx="14630400" cy="9144"/>
          </a:xfrm>
          <a:prstGeom prst="rect">
            <a:avLst/>
          </a:prstGeom>
          <a:solidFill>
            <a:srgbClr val="D0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8028431"/>
            <a:ext cx="1234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708096"/>
                </a:solidFill>
                <a:latin typeface="Calibri"/>
              </a:rPr>
              <a:t>ElectViz: Election Data Visualization for Media  ·  Infosys Springboard  ·  February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6625" y="1261872"/>
            <a:ext cx="2670048" cy="3749039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826625" y="1261872"/>
            <a:ext cx="2670048" cy="5486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936349" y="1371600"/>
            <a:ext cx="502920" cy="50292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936353" y="1371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6353" y="1975104"/>
            <a:ext cx="2450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A44"/>
                </a:solidFill>
                <a:latin typeface="Calibri"/>
              </a:rPr>
              <a:t>Data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4641" y="2340864"/>
            <a:ext cx="241401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230"/>
                </a:solidFill>
                <a:latin typeface="Calibri"/>
              </a:rPr>
              <a:t>Combine election datasets for 36 States + UTs into one master model with standardised schema.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88113" y="1261872"/>
            <a:ext cx="2670048" cy="3749039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88113" y="1261872"/>
            <a:ext cx="2670048" cy="5486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676071" y="1371600"/>
            <a:ext cx="502920" cy="50292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97841" y="1371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7841" y="1975104"/>
            <a:ext cx="2450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A44"/>
                </a:solidFill>
                <a:latin typeface="Calibri"/>
              </a:rPr>
              <a:t>Multi-Type 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6129" y="2340864"/>
            <a:ext cx="241401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230"/>
                </a:solidFill>
                <a:latin typeface="Calibri"/>
              </a:rPr>
              <a:t>Integrate Lok Sabha + Vidhan Sabha + Bypoll elections into a single unified pipeline.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9601" y="1261872"/>
            <a:ext cx="2670048" cy="3749039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49601" y="1261872"/>
            <a:ext cx="2670048" cy="5486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437559" y="1371600"/>
            <a:ext cx="502920" cy="50292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59329" y="1371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9329" y="1975104"/>
            <a:ext cx="2450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A44"/>
                </a:solidFill>
                <a:latin typeface="Calibri"/>
              </a:rPr>
              <a:t>Power BI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7617" y="2340864"/>
            <a:ext cx="241401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230"/>
                </a:solidFill>
                <a:latin typeface="Calibri"/>
              </a:rPr>
              <a:t>Build 5 interactive, filterable dashboard pages for full election coverage analysis.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11089" y="1261872"/>
            <a:ext cx="2670048" cy="3749039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0111089" y="1261872"/>
            <a:ext cx="2670048" cy="5486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0220820" y="1371600"/>
            <a:ext cx="502920" cy="50292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220817" y="1371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0817" y="1975104"/>
            <a:ext cx="2450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A1A44"/>
                </a:solidFill>
                <a:latin typeface="Calibri"/>
              </a:rPr>
              <a:t>Trend &amp; Performance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39105" y="2340864"/>
            <a:ext cx="241401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2230"/>
                </a:solidFill>
                <a:latin typeface="Calibri"/>
              </a:rPr>
              <a:t>Analyse party trends, turnout, demographics across all elections from 1951 to 2025.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5230368"/>
            <a:ext cx="13789152" cy="2487168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1480" y="5230368"/>
            <a:ext cx="13789152" cy="5486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94360" y="532180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7CC"/>
                </a:solidFill>
                <a:latin typeface="Calibri"/>
              </a:rPr>
              <a:t>Project Deliverables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" y="5669280"/>
            <a:ext cx="324612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94360" y="5669280"/>
            <a:ext cx="64008" cy="178308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58952" y="574243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0077CC"/>
                </a:solidFill>
                <a:latin typeface="Calibri"/>
              </a:rPr>
              <a:t>Master Dataset CSV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" y="6089904"/>
            <a:ext cx="3017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708096"/>
                </a:solidFill>
                <a:latin typeface="Calibri"/>
              </a:rPr>
              <a:t>Unified 36-state cleaned dataset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95928" y="5669280"/>
            <a:ext cx="324612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995928" y="5669280"/>
            <a:ext cx="64008" cy="1783080"/>
          </a:xfrm>
          <a:prstGeom prst="rect">
            <a:avLst/>
          </a:prstGeom>
          <a:solidFill>
            <a:srgbClr val="2776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160520" y="574243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776BF"/>
                </a:solidFill>
                <a:latin typeface="Calibri"/>
              </a:rPr>
              <a:t>Power BI Dashboard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60520" y="6089904"/>
            <a:ext cx="3017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708096"/>
                </a:solidFill>
                <a:latin typeface="Calibri"/>
              </a:rPr>
              <a:t>5 interactive pages, full drill-down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97496" y="5669280"/>
            <a:ext cx="324612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397496" y="5669280"/>
            <a:ext cx="64008" cy="1783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562088" y="574243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27AE60"/>
                </a:solidFill>
                <a:latin typeface="Calibri"/>
              </a:rPr>
              <a:t>Final PPT Report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62088" y="6089904"/>
            <a:ext cx="3017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708096"/>
                </a:solidFill>
                <a:latin typeface="Calibri"/>
              </a:rPr>
              <a:t>16-slide trial + final versions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799064" y="5669280"/>
            <a:ext cx="324612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10799064" y="5669280"/>
            <a:ext cx="64008" cy="17830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963656" y="574243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8E44AD"/>
                </a:solidFill>
                <a:latin typeface="Calibri"/>
              </a:rPr>
              <a:t>GitHub </a:t>
            </a:r>
            <a:r>
              <a:rPr lang="en-IN" sz="1600" b="1" i="0" dirty="0">
                <a:solidFill>
                  <a:srgbClr val="8E44AD"/>
                </a:solidFill>
                <a:latin typeface="Calibri"/>
              </a:rPr>
              <a:t>Repository</a:t>
            </a:r>
            <a:endParaRPr sz="1600" b="1" i="0" dirty="0">
              <a:solidFill>
                <a:srgbClr val="8E44AD"/>
              </a:solidFill>
              <a:latin typeface="Calibri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0963656" y="6089904"/>
            <a:ext cx="3017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708096"/>
                </a:solidFill>
                <a:latin typeface="Calibri"/>
              </a:rPr>
              <a:t>All scripts, data, docs committed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0058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4008"/>
            <a:ext cx="118872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Calibri"/>
              </a:rPr>
              <a:t>Modules Overview </a:t>
            </a:r>
            <a:r>
              <a:rPr lang="en-IN" sz="30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3000" b="1" i="0" dirty="0">
                <a:solidFill>
                  <a:srgbClr val="FFFFFF"/>
                </a:solidFill>
                <a:latin typeface="Calibri"/>
              </a:rPr>
              <a:t> 5 Milestones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Each milestone maps to an interactive Power BI dashboard page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001000"/>
            <a:ext cx="14630400" cy="228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8001000"/>
            <a:ext cx="14630400" cy="9144"/>
          </a:xfrm>
          <a:prstGeom prst="rect">
            <a:avLst/>
          </a:prstGeom>
          <a:solidFill>
            <a:srgbClr val="D0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8028431"/>
            <a:ext cx="1234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708096"/>
                </a:solidFill>
                <a:latin typeface="Calibri"/>
              </a:rPr>
              <a:t>ElectViz: Election Data Visualization for Media  ·  Infosys Springboard  ·  February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" y="1234440"/>
            <a:ext cx="2633472" cy="5559552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2336" y="1234440"/>
            <a:ext cx="2633472" cy="6400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12064" y="1353312"/>
            <a:ext cx="502920" cy="50292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" y="13533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1956816"/>
            <a:ext cx="2414016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A44"/>
                </a:solidFill>
                <a:latin typeface="Calibri"/>
              </a:rPr>
              <a:t>Data Integration
&amp;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" y="2651760"/>
            <a:ext cx="241401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Calibri"/>
              </a:rPr>
              <a:t>Merge + clean 36-state master dataset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251960"/>
            <a:ext cx="2414016" cy="2926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2064" y="4251960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✅ In Progress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4952" y="3063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77CC"/>
                </a:solidFill>
                <a:latin typeface="Calibri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63824" y="1234440"/>
            <a:ext cx="2633472" cy="5559552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163824" y="1234440"/>
            <a:ext cx="2633472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73552" y="1353312"/>
            <a:ext cx="50292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73552" y="13533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3552" y="1956816"/>
            <a:ext cx="2414016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A44"/>
                </a:solidFill>
                <a:latin typeface="Calibri"/>
              </a:rPr>
              <a:t>Historical Trends
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3552" y="2651760"/>
            <a:ext cx="241401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Calibri"/>
              </a:rPr>
              <a:t>Year-wise trends, seat distribution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73552" y="4251960"/>
            <a:ext cx="2414016" cy="2926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273552" y="4251960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✅ Demo Ready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3063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77CC"/>
                </a:solidFill>
                <a:latin typeface="Calibri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25312" y="1234440"/>
            <a:ext cx="2633472" cy="5559552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25312" y="1234440"/>
            <a:ext cx="2633472" cy="640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035040" y="1353312"/>
            <a:ext cx="502920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035040" y="13533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1956816"/>
            <a:ext cx="2414016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A44"/>
                </a:solidFill>
                <a:latin typeface="Calibri"/>
              </a:rPr>
              <a:t>Real-Time Results
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2651760"/>
            <a:ext cx="241401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Calibri"/>
              </a:rPr>
              <a:t>Live-style tally, swing seat alerts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4251960"/>
            <a:ext cx="2414016" cy="29260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35040" y="4251960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🔧 Prototype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67928" y="3063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77CC"/>
                </a:solidFill>
                <a:latin typeface="Calibri"/>
              </a:rPr>
              <a:t>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86800" y="1234440"/>
            <a:ext cx="2633472" cy="5559552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686800" y="1234440"/>
            <a:ext cx="2633472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796528" y="1353312"/>
            <a:ext cx="50292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796528" y="13533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96528" y="1956816"/>
            <a:ext cx="2414016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A44"/>
                </a:solidFill>
                <a:latin typeface="Calibri"/>
              </a:rPr>
              <a:t>Turnout &amp;
Demographics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2651760"/>
            <a:ext cx="241401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Calibri"/>
              </a:rPr>
              <a:t>Gender, category, urban/rural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796528" y="4251960"/>
            <a:ext cx="2414016" cy="2926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796528" y="4251960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✅ Demo Ready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29416" y="3063240"/>
            <a:ext cx="137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077CC"/>
                </a:solidFill>
                <a:latin typeface="Calibri"/>
              </a:rPr>
              <a:t>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48288" y="1234440"/>
            <a:ext cx="2633472" cy="5559552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1448288" y="1234440"/>
            <a:ext cx="2633472" cy="640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1558016" y="1353312"/>
            <a:ext cx="50292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1558016" y="13533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558016" y="1956816"/>
            <a:ext cx="2414016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A44"/>
                </a:solidFill>
                <a:latin typeface="Calibri"/>
              </a:rPr>
              <a:t>Party &amp; Candidate
Performance Tracker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58016" y="2651760"/>
            <a:ext cx="241401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Calibri"/>
              </a:rPr>
              <a:t>Margins, dominance, re-elections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558016" y="4251960"/>
            <a:ext cx="2414016" cy="2926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1558016" y="4251960"/>
            <a:ext cx="24140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✅ Demo Ready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004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0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Project Milestones </a:t>
            </a:r>
            <a:r>
              <a:rPr lang="en-IN" dirty="0"/>
              <a:t>-</a:t>
            </a:r>
            <a:r>
              <a:rPr dirty="0"/>
              <a:t> Timeline &amp;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2651760" cy="621792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8720" y="1143000"/>
            <a:ext cx="914400" cy="9144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Data Integration</a:t>
            </a:r>
            <a:br/>
            <a:r>
              <a:t>&amp; Modeling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80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4FC3F7"/>
                </a:solidFill>
                <a:latin typeface="Segoe UI"/>
              </a:defRPr>
            </a:pPr>
            <a:r>
              <a:t>Weeks 1-2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46120"/>
            <a:ext cx="182880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✅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14-column schema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416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36-state data collection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3425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Party name standardization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79" y="1005840"/>
            <a:ext cx="2651760" cy="621792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977639" y="1143000"/>
            <a:ext cx="914400" cy="9144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39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Historical Trends</a:t>
            </a:r>
            <a:br/>
            <a:r>
              <a:t>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39" y="2880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4FC3F7"/>
                </a:solidFill>
                <a:latin typeface="Segoe UI"/>
              </a:defRPr>
            </a:pPr>
            <a:r>
              <a:t>Weeks 3-4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39" y="3246120"/>
            <a:ext cx="182880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✅ Completed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7490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Trend analysis visuals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0416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State-wise comparisons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433425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Year-over-year views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1005840"/>
            <a:ext cx="2651760" cy="621792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766560" y="1143000"/>
            <a:ext cx="914400" cy="9144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Real-Time Results</a:t>
            </a:r>
            <a:br/>
            <a:r>
              <a:t>Dashboard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880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4FC3F7"/>
                </a:solidFill>
                <a:latin typeface="Segoe UI"/>
              </a:defRPr>
            </a:pPr>
            <a:r>
              <a:t>Weeks 5-6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246120"/>
            <a:ext cx="182880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✅ Completed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7490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Live results 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0416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Seat tally 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33425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Leading candidate tracker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32520" y="1005840"/>
            <a:ext cx="2651760" cy="621792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555480" y="1143000"/>
            <a:ext cx="914400" cy="9144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Turnout &amp;</a:t>
            </a:r>
            <a:br/>
            <a:r>
              <a:t>Demographics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880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4FC3F7"/>
                </a:solidFill>
                <a:latin typeface="Segoe UI"/>
              </a:defRPr>
            </a:pPr>
            <a:r>
              <a:t>Weeks 7-8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98280" y="3246120"/>
            <a:ext cx="182880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✅ Completed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400" y="37490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Voter turnout maps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40416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Urban vs Rural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433425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Demographic overlays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21440" y="1005840"/>
            <a:ext cx="2651760" cy="6217920"/>
          </a:xfrm>
          <a:prstGeom prst="roundRect">
            <a:avLst/>
          </a:prstGeom>
          <a:solidFill>
            <a:srgbClr val="141E30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2344400" y="1143000"/>
            <a:ext cx="914400" cy="9144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658600" y="2194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Party &amp; Candidate</a:t>
            </a:r>
            <a:br/>
            <a:r>
              <a:t>Tracker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58600" y="28803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4FC3F7"/>
                </a:solidFill>
                <a:latin typeface="Segoe UI"/>
              </a:defRPr>
            </a:pPr>
            <a:r>
              <a:t>Weeks 9-10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87200" y="3246120"/>
            <a:ext cx="1828800" cy="3200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✅ Completed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04320" y="37490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Performance tracker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04320" y="40416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Party comparison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04320" y="433425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BBBBBB"/>
                </a:solidFill>
                <a:latin typeface="Segoe UI"/>
              </a:defRPr>
            </a:pPr>
            <a:r>
              <a:t>▸ Candidate win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7726679"/>
            <a:ext cx="13716000" cy="13716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8640" y="77724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" b="0">
                <a:solidFill>
                  <a:srgbClr val="BBBBBB"/>
                </a:solidFill>
                <a:latin typeface="Segoe UI"/>
              </a:defRPr>
            </a:pPr>
            <a:r>
              <a:t>ElectViz: Election Data Visualization for Media  ·  Infosys Springboard  ·  February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800" b="0">
                <a:solidFill>
                  <a:srgbClr val="BBBBBB"/>
                </a:solidFill>
                <a:latin typeface="Segoe UI"/>
              </a:defRPr>
            </a:pPr>
            <a:r>
              <a:t>6/18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0058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4008"/>
            <a:ext cx="118872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Calibri"/>
              </a:rPr>
              <a:t>Milestone 1 </a:t>
            </a:r>
            <a:r>
              <a:rPr lang="en-IN" sz="30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3000" b="1" i="0" dirty="0">
                <a:solidFill>
                  <a:srgbClr val="FFFFFF"/>
                </a:solidFill>
                <a:latin typeface="Calibri"/>
              </a:rPr>
              <a:t> Data Integration &amp;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Merging, cleaning, and standardising 36 state datasets into one master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001000"/>
            <a:ext cx="14630400" cy="228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8001000"/>
            <a:ext cx="14630400" cy="9144"/>
          </a:xfrm>
          <a:prstGeom prst="rect">
            <a:avLst/>
          </a:prstGeom>
          <a:solidFill>
            <a:srgbClr val="D0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8028431"/>
            <a:ext cx="1234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708096"/>
                </a:solidFill>
                <a:latin typeface="Calibri"/>
              </a:rPr>
              <a:t>ElectViz: Election Data Visualization for Media  ·  Infosys Springboard  ·  February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234440"/>
            <a:ext cx="5806440" cy="653796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234440"/>
            <a:ext cx="64008" cy="6537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1307592"/>
            <a:ext cx="56052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Calibri"/>
              </a:rPr>
              <a:t>✅  Completed — What Was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177393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1664208"/>
            <a:ext cx="52486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200" dirty="0">
                <a:solidFill>
                  <a:srgbClr val="1A2230"/>
                </a:solidFill>
                <a:latin typeface="Calibri"/>
              </a:rPr>
              <a:t>36</a:t>
            </a:r>
            <a:r>
              <a:rPr sz="1200" b="0" i="0" dirty="0">
                <a:solidFill>
                  <a:srgbClr val="1A2230"/>
                </a:solidFill>
                <a:latin typeface="Calibri"/>
              </a:rPr>
              <a:t> of 36 states merged  ·  1</a:t>
            </a:r>
            <a:r>
              <a:rPr lang="en-IN" sz="1200" b="0" i="0" dirty="0">
                <a:solidFill>
                  <a:srgbClr val="1A2230"/>
                </a:solidFill>
                <a:latin typeface="Calibri"/>
              </a:rPr>
              <a:t>1</a:t>
            </a:r>
            <a:r>
              <a:rPr sz="1200" b="0" i="0" dirty="0">
                <a:solidFill>
                  <a:srgbClr val="1A2230"/>
                </a:solidFill>
                <a:latin typeface="Calibri"/>
              </a:rPr>
              <a:t> by Hamiz, 10 by Karishma, </a:t>
            </a:r>
            <a:r>
              <a:rPr lang="en-IN" sz="1200" b="0" i="0" dirty="0">
                <a:solidFill>
                  <a:srgbClr val="1A2230"/>
                </a:solidFill>
                <a:latin typeface="Calibri"/>
              </a:rPr>
              <a:t>15</a:t>
            </a:r>
            <a:r>
              <a:rPr sz="1200" b="0" i="0" dirty="0">
                <a:solidFill>
                  <a:srgbClr val="1A2230"/>
                </a:solidFill>
                <a:latin typeface="Calibri"/>
              </a:rPr>
              <a:t> by others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23408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2231136"/>
            <a:ext cx="52486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2230"/>
                </a:solidFill>
                <a:latin typeface="Calibri"/>
              </a:rPr>
              <a:t>LS + VS + </a:t>
            </a:r>
            <a:r>
              <a:rPr sz="1200" b="0" i="0" dirty="0" err="1">
                <a:solidFill>
                  <a:srgbClr val="1A2230"/>
                </a:solidFill>
                <a:latin typeface="Calibri"/>
              </a:rPr>
              <a:t>Bypoll</a:t>
            </a:r>
            <a:r>
              <a:rPr sz="1200" b="0" i="0" dirty="0">
                <a:solidFill>
                  <a:srgbClr val="1A2230"/>
                </a:solidFill>
                <a:latin typeface="Calibri"/>
              </a:rPr>
              <a:t> integration started </a:t>
            </a:r>
            <a:r>
              <a:rPr lang="en-IN" sz="1200" dirty="0">
                <a:solidFill>
                  <a:srgbClr val="1A2230"/>
                </a:solidFill>
                <a:latin typeface="Calibri"/>
              </a:rPr>
              <a:t>,</a:t>
            </a:r>
            <a:r>
              <a:rPr sz="1200" b="0" i="0" dirty="0">
                <a:solidFill>
                  <a:srgbClr val="1A2230"/>
                </a:solidFill>
                <a:latin typeface="Calibri"/>
              </a:rPr>
              <a:t> all three types in one pipeline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90779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2798064"/>
            <a:ext cx="52486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200+ party abbreviations expanded to full standardised names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47472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3364992"/>
            <a:ext cx="52486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GitHub repository created with per-member contribution folders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04164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3931920"/>
            <a:ext cx="52486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Master CSV: 27,415 records · 14 standard columns · ready for Power BI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1261872"/>
            <a:ext cx="3840480" cy="749808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92240" y="1261872"/>
            <a:ext cx="64008" cy="74980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38544" y="1316736"/>
            <a:ext cx="36393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1" dirty="0">
                <a:solidFill>
                  <a:srgbClr val="0077CC"/>
                </a:solidFill>
                <a:latin typeface="Calibri"/>
              </a:rPr>
              <a:t>55</a:t>
            </a:r>
            <a:r>
              <a:rPr sz="2400" b="1" i="0" dirty="0">
                <a:solidFill>
                  <a:srgbClr val="0077CC"/>
                </a:solidFill>
                <a:latin typeface="Calibri"/>
              </a:rPr>
              <a:t>,</a:t>
            </a:r>
            <a:r>
              <a:rPr lang="en-IN" sz="2400" b="1" i="0" dirty="0">
                <a:solidFill>
                  <a:srgbClr val="0077CC"/>
                </a:solidFill>
                <a:latin typeface="Calibri"/>
              </a:rPr>
              <a:t>646</a:t>
            </a:r>
            <a:endParaRPr sz="2400" b="1" i="0" dirty="0">
              <a:solidFill>
                <a:srgbClr val="0077CC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638544" y="1700784"/>
            <a:ext cx="3639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08096"/>
                </a:solidFill>
                <a:latin typeface="Calibri"/>
              </a:rPr>
              <a:t>Total Records in Master CSV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1261872"/>
            <a:ext cx="3840480" cy="749808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515600" y="1261872"/>
            <a:ext cx="64008" cy="74980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61904" y="1316736"/>
            <a:ext cx="36393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1" dirty="0">
                <a:solidFill>
                  <a:srgbClr val="0077CC"/>
                </a:solidFill>
                <a:latin typeface="Calibri"/>
              </a:rPr>
              <a:t>36</a:t>
            </a:r>
            <a:r>
              <a:rPr sz="2400" b="1" i="0" dirty="0">
                <a:solidFill>
                  <a:srgbClr val="0077CC"/>
                </a:solidFill>
                <a:latin typeface="Calibri"/>
              </a:rPr>
              <a:t> / 36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61904" y="1700784"/>
            <a:ext cx="3639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08096"/>
                </a:solidFill>
                <a:latin typeface="Calibri"/>
              </a:rPr>
              <a:t>States Merged (Phase 1)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130552"/>
            <a:ext cx="3840480" cy="749808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92240" y="2130552"/>
            <a:ext cx="64008" cy="749808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38544" y="2185416"/>
            <a:ext cx="36393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1" dirty="0">
                <a:solidFill>
                  <a:srgbClr val="276BBF"/>
                </a:solidFill>
                <a:latin typeface="Calibri"/>
              </a:rPr>
              <a:t>1009</a:t>
            </a:r>
            <a:endParaRPr sz="2400" b="1" i="0" dirty="0">
              <a:solidFill>
                <a:srgbClr val="276BBF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638544" y="2569464"/>
            <a:ext cx="3639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08096"/>
                </a:solidFill>
                <a:latin typeface="Calibri"/>
              </a:rPr>
              <a:t>Bypoll Records Integrated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2130552"/>
            <a:ext cx="3840480" cy="749808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0515600" y="2130552"/>
            <a:ext cx="64008" cy="749808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661904" y="2185416"/>
            <a:ext cx="36393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276BBF"/>
                </a:solidFill>
                <a:latin typeface="Calibri"/>
              </a:rPr>
              <a:t>194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61904" y="2569464"/>
            <a:ext cx="3639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08096"/>
                </a:solidFill>
                <a:latin typeface="Calibri"/>
              </a:rPr>
              <a:t>Unique Party Codes Standardised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2999232"/>
            <a:ext cx="3840480" cy="749808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492240" y="2999232"/>
            <a:ext cx="64008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38544" y="3054096"/>
            <a:ext cx="36393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27AE60"/>
                </a:solidFill>
                <a:latin typeface="Calibri"/>
              </a:rPr>
              <a:t>1951</a:t>
            </a:r>
            <a:r>
              <a:rPr lang="en-IN" sz="2400" b="1" i="0" dirty="0">
                <a:solidFill>
                  <a:srgbClr val="27AE60"/>
                </a:solidFill>
                <a:latin typeface="Calibri"/>
              </a:rPr>
              <a:t>-</a:t>
            </a:r>
            <a:r>
              <a:rPr sz="2400" b="1" i="0" dirty="0">
                <a:solidFill>
                  <a:srgbClr val="27AE60"/>
                </a:solidFill>
                <a:latin typeface="Calibri"/>
              </a:rPr>
              <a:t>2025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38544" y="3438144"/>
            <a:ext cx="3639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08096"/>
                </a:solidFill>
                <a:latin typeface="Calibri"/>
              </a:rPr>
              <a:t>Election Year Range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15600" y="2999232"/>
            <a:ext cx="3840480" cy="749808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10515600" y="2999232"/>
            <a:ext cx="64008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661904" y="3054096"/>
            <a:ext cx="36393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7AE60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61904" y="3438144"/>
            <a:ext cx="363931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08096"/>
                </a:solidFill>
                <a:latin typeface="Calibri"/>
              </a:rPr>
              <a:t>Election Types Covered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3977639"/>
            <a:ext cx="7818120" cy="3794760"/>
          </a:xfrm>
          <a:prstGeom prst="rect">
            <a:avLst/>
          </a:prstGeom>
          <a:solidFill>
            <a:srgbClr val="0A1A44"/>
          </a:solidFill>
          <a:ln w="15240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1" name="Rectangle 50"/>
          <p:cNvSpPr/>
          <p:nvPr/>
        </p:nvSpPr>
        <p:spPr>
          <a:xfrm>
            <a:off x="6492240" y="3977639"/>
            <a:ext cx="82296" cy="379476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48E4AE-9733-E9A0-A5A3-4647A071F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1" y="3931920"/>
            <a:ext cx="8077200" cy="38998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0058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4008"/>
            <a:ext cx="118872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Calibri"/>
              </a:rPr>
              <a:t>Milestone 2 </a:t>
            </a:r>
            <a:r>
              <a:rPr lang="en-IN" sz="30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3000" b="1" i="0" dirty="0">
                <a:solidFill>
                  <a:srgbClr val="FFFFFF"/>
                </a:solidFill>
                <a:latin typeface="Calibri"/>
              </a:rPr>
              <a:t> Historical Trends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Year-wise election trends · Party seat performance · Constituency result patterns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001000"/>
            <a:ext cx="14630400" cy="228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8001000"/>
            <a:ext cx="14630400" cy="9144"/>
          </a:xfrm>
          <a:prstGeom prst="rect">
            <a:avLst/>
          </a:prstGeom>
          <a:solidFill>
            <a:srgbClr val="D0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8028431"/>
            <a:ext cx="1234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708096"/>
                </a:solidFill>
                <a:latin typeface="Calibri"/>
              </a:rPr>
              <a:t>ElectViz: Election Data Visualization for Media  ·  Infosys Springboard  ·  February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234440"/>
            <a:ext cx="4160520" cy="548640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234440"/>
            <a:ext cx="64008" cy="5486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1307592"/>
            <a:ext cx="3959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Calibri"/>
              </a:rPr>
              <a:t>✅  Delivered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175564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1645920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Year-wise election trends from 1951 to 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23113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2121408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Party-wise seat performance over every decade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70662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2596896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Constituency result patterns with drill-down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18211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072384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Interactive YEAR slicer and STATE filter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65760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3547872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Vote trend line chart across elections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13308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672" y="4023360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Decade comparison: Lok Sabha vs Vidhan Sabha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18888" y="1298448"/>
            <a:ext cx="9418320" cy="5486400"/>
          </a:xfrm>
          <a:prstGeom prst="rect">
            <a:avLst/>
          </a:prstGeom>
          <a:solidFill>
            <a:srgbClr val="B8C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754880" y="1234440"/>
            <a:ext cx="9418320" cy="5486400"/>
          </a:xfrm>
          <a:prstGeom prst="rect">
            <a:avLst/>
          </a:prstGeom>
          <a:solidFill>
            <a:srgbClr val="0D13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754880" y="1234440"/>
            <a:ext cx="9418320" cy="384048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19472" y="12984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Historical Trends Dashboard  ·  Party Performance by Year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710160" y="6428232"/>
            <a:ext cx="1371600" cy="23774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2710160" y="642823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[ See dashboard image → 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28032" y="1691640"/>
            <a:ext cx="1051560" cy="4956048"/>
          </a:xfrm>
          <a:prstGeom prst="rect">
            <a:avLst/>
          </a:prstGeom>
          <a:solidFill>
            <a:srgbClr val="12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846320" y="174650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YEAR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46320" y="2002536"/>
            <a:ext cx="91440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873752" y="203911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77CC"/>
                </a:solidFill>
                <a:latin typeface="Calibri"/>
              </a:rPr>
              <a:t>1952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46320" y="2350008"/>
            <a:ext cx="914400" cy="256032"/>
          </a:xfrm>
          <a:prstGeom prst="rect">
            <a:avLst/>
          </a:prstGeom>
          <a:solidFill>
            <a:srgbClr val="0D1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873752" y="238658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1962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2697480"/>
            <a:ext cx="914400" cy="256032"/>
          </a:xfrm>
          <a:prstGeom prst="rect">
            <a:avLst/>
          </a:prstGeom>
          <a:solidFill>
            <a:srgbClr val="0D1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73752" y="2734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1977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3044952"/>
            <a:ext cx="91440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73752" y="308152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77CC"/>
                </a:solidFill>
                <a:latin typeface="Calibri"/>
              </a:rPr>
              <a:t>1984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46320" y="3392424"/>
            <a:ext cx="914400" cy="256032"/>
          </a:xfrm>
          <a:prstGeom prst="rect">
            <a:avLst/>
          </a:prstGeom>
          <a:solidFill>
            <a:srgbClr val="0D1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73752" y="342900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1991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0" y="3739896"/>
            <a:ext cx="914400" cy="256032"/>
          </a:xfrm>
          <a:prstGeom prst="rect">
            <a:avLst/>
          </a:prstGeom>
          <a:solidFill>
            <a:srgbClr val="0D1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873752" y="37764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2004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46320" y="4087368"/>
            <a:ext cx="91440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873752" y="412394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77CC"/>
                </a:solidFill>
                <a:latin typeface="Calibri"/>
              </a:rPr>
              <a:t>2009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46320" y="4434840"/>
            <a:ext cx="914400" cy="256032"/>
          </a:xfrm>
          <a:prstGeom prst="rect">
            <a:avLst/>
          </a:prstGeom>
          <a:solidFill>
            <a:srgbClr val="0D1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873752" y="447141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2014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4782312"/>
            <a:ext cx="914400" cy="256032"/>
          </a:xfrm>
          <a:prstGeom prst="rect">
            <a:avLst/>
          </a:prstGeom>
          <a:solidFill>
            <a:srgbClr val="0D1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73752" y="481888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2019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46320" y="5129784"/>
            <a:ext cx="914400" cy="25603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873752" y="516636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77CC"/>
                </a:solidFill>
                <a:latin typeface="Calibri"/>
              </a:rPr>
              <a:t>2024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61888" y="1709928"/>
            <a:ext cx="8092440" cy="3200400"/>
          </a:xfrm>
          <a:prstGeom prst="rect">
            <a:avLst/>
          </a:prstGeom>
          <a:solidFill>
            <a:srgbClr val="121E38"/>
          </a:solidFill>
          <a:ln w="508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035040" y="1764792"/>
            <a:ext cx="9418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PARTY WINS — TOP 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0" y="200253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Indian National Congress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73568" y="2050084"/>
            <a:ext cx="62179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973568" y="2050084"/>
            <a:ext cx="6217920" cy="142646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035040" y="229514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Bharatiya Janata Party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973568" y="2342692"/>
            <a:ext cx="62179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973568" y="2342692"/>
            <a:ext cx="3098094" cy="142646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1117382" y="2295144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4,990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35040" y="2587752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Independent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73568" y="2635300"/>
            <a:ext cx="62179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973568" y="2635300"/>
            <a:ext cx="921357" cy="142646"/>
          </a:xfrm>
          <a:prstGeom prst="rect">
            <a:avLst/>
          </a:prstGeom>
          <a:solidFill>
            <a:srgbClr val="70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940645" y="2587752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1,484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35040" y="288036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Telugu Desam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973568" y="2927908"/>
            <a:ext cx="62179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7973568" y="2927908"/>
            <a:ext cx="900248" cy="14264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919536" y="2880360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1,450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0" y="3172968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INC (I)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973568" y="3220516"/>
            <a:ext cx="62179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7973568" y="3220516"/>
            <a:ext cx="623344" cy="14264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642632" y="3172968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1,004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0" y="346557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Janata Party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973568" y="3513124"/>
            <a:ext cx="62179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7973568" y="3513124"/>
            <a:ext cx="485513" cy="14264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8504801" y="3465576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782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35040" y="375818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CPI(M)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973568" y="3805732"/>
            <a:ext cx="62179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7973568" y="3805732"/>
            <a:ext cx="330918" cy="14264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350206" y="3758184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533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961888" y="5001768"/>
            <a:ext cx="8092440" cy="1572768"/>
          </a:xfrm>
          <a:prstGeom prst="rect">
            <a:avLst/>
          </a:prstGeom>
          <a:solidFill>
            <a:srgbClr val="121E38"/>
          </a:solidFill>
          <a:ln w="508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035040" y="5056632"/>
            <a:ext cx="9418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WINNING VOTE TRENDS ACROSS ELECTIONS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11480" y="6903720"/>
            <a:ext cx="13807440" cy="502920"/>
          </a:xfrm>
          <a:prstGeom prst="rect">
            <a:avLst/>
          </a:prstGeom>
          <a:solidFill>
            <a:srgbClr val="E8F2FA"/>
          </a:solidFill>
          <a:ln w="12700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94360" y="6967728"/>
            <a:ext cx="1344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A44"/>
                </a:solidFill>
                <a:latin typeface="Calibri"/>
              </a:rPr>
              <a:t>🎙  This page helps anchors analyse historical swing seats and track how dominant parties rose or fell across decades.</a:t>
            </a:r>
          </a:p>
        </p:txBody>
      </p:sp>
      <p:pic>
        <p:nvPicPr>
          <p:cNvPr id="7" name="Picture 6" descr="M2 Dashboar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884" y="1248156"/>
            <a:ext cx="9474036" cy="545960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0058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4008"/>
            <a:ext cx="118872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Calibri"/>
              </a:rPr>
              <a:t>Milestone 3 </a:t>
            </a:r>
            <a:r>
              <a:rPr lang="en-IN" sz="30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3000" b="1" i="0" dirty="0">
                <a:solidFill>
                  <a:srgbClr val="FFFFFF"/>
                </a:solidFill>
                <a:latin typeface="Calibri"/>
              </a:rPr>
              <a:t> Real-Time Results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Live-style seat tally · Vote % bars · Party filters · Swing seat identification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001000"/>
            <a:ext cx="14630400" cy="228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8001000"/>
            <a:ext cx="14630400" cy="9144"/>
          </a:xfrm>
          <a:prstGeom prst="rect">
            <a:avLst/>
          </a:prstGeom>
          <a:solidFill>
            <a:srgbClr val="D0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8028431"/>
            <a:ext cx="1234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708096"/>
                </a:solidFill>
                <a:latin typeface="Calibri"/>
              </a:rPr>
              <a:t>ElectViz: Election Data Visualization for Media  ·  Infosys Springboard  ·  February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234440"/>
            <a:ext cx="4160520" cy="548640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234440"/>
            <a:ext cx="64008" cy="5486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1307592"/>
            <a:ext cx="3959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39C12"/>
                </a:solidFill>
                <a:latin typeface="Calibri"/>
              </a:rPr>
              <a:t>🔧  Prototype Stage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1755648"/>
            <a:ext cx="73152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1645920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Live-style seat count updates as results arrive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231136"/>
            <a:ext cx="73152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2121408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Vote percentage bars per constituency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706624"/>
            <a:ext cx="73152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2596896"/>
            <a:ext cx="36758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2230"/>
                </a:solidFill>
                <a:latin typeface="Calibri"/>
              </a:rPr>
              <a:t>Party filter slicers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182112"/>
            <a:ext cx="73152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072384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Swing seat identification (close margins highlighted)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657600"/>
            <a:ext cx="73152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3547872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Colour-coded leading / trailing party 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133088"/>
            <a:ext cx="73152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672" y="4023360"/>
            <a:ext cx="36758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200" b="0" i="0" dirty="0">
                <a:solidFill>
                  <a:srgbClr val="1A2230"/>
                </a:solidFill>
                <a:latin typeface="Calibri"/>
              </a:rPr>
              <a:t>State</a:t>
            </a:r>
            <a:r>
              <a:rPr sz="1200" b="0" i="0" dirty="0">
                <a:solidFill>
                  <a:srgbClr val="1A2230"/>
                </a:solidFill>
                <a:latin typeface="Calibri"/>
              </a:rPr>
              <a:t>-level tally card </a:t>
            </a:r>
            <a:r>
              <a:rPr lang="en-IN" sz="1200" b="0" i="0" dirty="0">
                <a:solidFill>
                  <a:srgbClr val="1A2230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1A2230"/>
                </a:solidFill>
                <a:latin typeface="Calibri"/>
              </a:rPr>
              <a:t> instant overview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18888" y="1298448"/>
            <a:ext cx="9418320" cy="5486400"/>
          </a:xfrm>
          <a:prstGeom prst="rect">
            <a:avLst/>
          </a:prstGeom>
          <a:solidFill>
            <a:srgbClr val="B8C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754880" y="1234440"/>
            <a:ext cx="9418320" cy="5486400"/>
          </a:xfrm>
          <a:prstGeom prst="rect">
            <a:avLst/>
          </a:prstGeom>
          <a:solidFill>
            <a:srgbClr val="0D13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754880" y="1234440"/>
            <a:ext cx="9418320" cy="384048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19472" y="12984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LIVE RESULT TRACKER  ·  Party Seat Tally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710160" y="6428232"/>
            <a:ext cx="1371600" cy="23774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2710160" y="642823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[ See dashboard image → 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64608" y="1709928"/>
            <a:ext cx="2176272" cy="685800"/>
          </a:xfrm>
          <a:prstGeom prst="rect">
            <a:avLst/>
          </a:prstGeom>
          <a:solidFill>
            <a:srgbClr val="121E38"/>
          </a:solidFill>
          <a:ln w="508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864608" y="1764792"/>
            <a:ext cx="2176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77CC"/>
                </a:solidFill>
                <a:latin typeface="Calibri"/>
              </a:rPr>
              <a:t>543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64608" y="2112264"/>
            <a:ext cx="2176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08096"/>
                </a:solidFill>
                <a:latin typeface="Calibri"/>
              </a:rPr>
              <a:t>Total Seats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50608" y="1709928"/>
            <a:ext cx="2176272" cy="685800"/>
          </a:xfrm>
          <a:prstGeom prst="rect">
            <a:avLst/>
          </a:prstGeom>
          <a:solidFill>
            <a:srgbClr val="121E38"/>
          </a:solidFill>
          <a:ln w="508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50608" y="1764792"/>
            <a:ext cx="2176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392B"/>
                </a:solidFill>
                <a:latin typeface="Calibri"/>
              </a:rPr>
              <a:t>272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0608" y="2112264"/>
            <a:ext cx="2176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08096"/>
                </a:solidFill>
                <a:latin typeface="Calibri"/>
              </a:rPr>
              <a:t>Majority Mark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36608" y="1709928"/>
            <a:ext cx="2176272" cy="685800"/>
          </a:xfrm>
          <a:prstGeom prst="rect">
            <a:avLst/>
          </a:prstGeom>
          <a:solidFill>
            <a:srgbClr val="121E38"/>
          </a:solidFill>
          <a:ln w="508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436608" y="1764792"/>
            <a:ext cx="2176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7AE60"/>
                </a:solidFill>
                <a:latin typeface="Calibri"/>
              </a:rPr>
              <a:t>INC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36608" y="2112264"/>
            <a:ext cx="2176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08096"/>
                </a:solidFill>
                <a:latin typeface="Calibri"/>
              </a:rPr>
              <a:t>Simulated Lead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722608" y="1709928"/>
            <a:ext cx="2176272" cy="685800"/>
          </a:xfrm>
          <a:prstGeom prst="rect">
            <a:avLst/>
          </a:prstGeom>
          <a:solidFill>
            <a:srgbClr val="121E38"/>
          </a:solidFill>
          <a:ln w="508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1722608" y="1764792"/>
            <a:ext cx="21762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76BBF"/>
                </a:solidFill>
                <a:latin typeface="Calibri"/>
              </a:rPr>
              <a:t>BJP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22608" y="2112264"/>
            <a:ext cx="2176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708096"/>
                </a:solidFill>
                <a:latin typeface="Calibri"/>
              </a:rPr>
              <a:t>Simulated 2nd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92040" y="2514600"/>
            <a:ext cx="9144000" cy="329184"/>
          </a:xfrm>
          <a:prstGeom prst="rect">
            <a:avLst/>
          </a:prstGeom>
          <a:solidFill>
            <a:srgbClr val="121E38"/>
          </a:solidFill>
          <a:ln w="381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892040" y="2514600"/>
            <a:ext cx="5220331" cy="32918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956048" y="257860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Indian National Congress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16000" y="2578608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310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92040" y="2935224"/>
            <a:ext cx="9144000" cy="329184"/>
          </a:xfrm>
          <a:prstGeom prst="rect">
            <a:avLst/>
          </a:prstGeom>
          <a:solidFill>
            <a:srgbClr val="121E38"/>
          </a:solidFill>
          <a:ln w="381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892040" y="2935224"/>
            <a:ext cx="3367955" cy="329184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956048" y="29992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Bharatiya Janata Party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716000" y="2999232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200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92040" y="3355848"/>
            <a:ext cx="9144000" cy="329184"/>
          </a:xfrm>
          <a:prstGeom prst="rect">
            <a:avLst/>
          </a:prstGeom>
          <a:solidFill>
            <a:srgbClr val="121E38"/>
          </a:solidFill>
          <a:ln w="381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892040" y="3355848"/>
            <a:ext cx="555712" cy="32918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956048" y="341985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Regional / Others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716000" y="3419856"/>
            <a:ext cx="3474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64608" y="3840480"/>
            <a:ext cx="9198864" cy="2761488"/>
          </a:xfrm>
          <a:prstGeom prst="rect">
            <a:avLst/>
          </a:prstGeom>
          <a:solidFill>
            <a:srgbClr val="121E38"/>
          </a:solidFill>
          <a:ln w="508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956048" y="3904488"/>
            <a:ext cx="9418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CONSTITUENCY RESULT DETAILS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01184" y="416052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State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64224" y="4160520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Constituency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84464" y="416052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Leading Candidate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70464" y="416052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Party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673584" y="4160520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Margin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64608" y="4398264"/>
            <a:ext cx="9198864" cy="228600"/>
          </a:xfrm>
          <a:prstGeom prst="rect">
            <a:avLst/>
          </a:prstGeom>
          <a:solidFill>
            <a:srgbClr val="12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901184" y="4416552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Andhra Pradesh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64224" y="4416552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Ongole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84464" y="441655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Maganti 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70464" y="4416552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TDP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673584" y="4416552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12,450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64608" y="4645152"/>
            <a:ext cx="9198864" cy="228600"/>
          </a:xfrm>
          <a:prstGeom prst="rect">
            <a:avLst/>
          </a:prstGeom>
          <a:solidFill>
            <a:srgbClr val="0D1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01184" y="466344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Bihar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64224" y="4663440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Patna Sahib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84464" y="4663440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R S Prasad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70464" y="4663440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BJP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673584" y="4663440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95,210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64608" y="4892040"/>
            <a:ext cx="9198864" cy="228600"/>
          </a:xfrm>
          <a:prstGeom prst="rect">
            <a:avLst/>
          </a:prstGeom>
          <a:solidFill>
            <a:srgbClr val="12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901184" y="491032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Delhi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64224" y="4910328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New Delhi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84464" y="491032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Meenakshi 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70464" y="4910328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BJP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673584" y="491032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78,300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64608" y="5138928"/>
            <a:ext cx="9198864" cy="228600"/>
          </a:xfrm>
          <a:prstGeom prst="rect">
            <a:avLst/>
          </a:prstGeom>
          <a:solidFill>
            <a:srgbClr val="0D1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901184" y="515721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Gujarat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64224" y="5157216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Gandhinagar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84464" y="515721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Amit Shah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70464" y="5157216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BJP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673584" y="5157216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557,014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864608" y="5385816"/>
            <a:ext cx="9198864" cy="228600"/>
          </a:xfrm>
          <a:prstGeom prst="rect">
            <a:avLst/>
          </a:prstGeom>
          <a:solidFill>
            <a:srgbClr val="12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4901184" y="540410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MP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64224" y="540410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Indore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84464" y="5404104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K Vijayvargiya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570464" y="5404104"/>
            <a:ext cx="2103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BJP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673584" y="5404104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D8EA"/>
                </a:solidFill>
                <a:latin typeface="Calibri"/>
              </a:rPr>
              <a:t>1,043,000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11480" y="6903720"/>
            <a:ext cx="13807440" cy="502920"/>
          </a:xfrm>
          <a:prstGeom prst="rect">
            <a:avLst/>
          </a:prstGeom>
          <a:solidFill>
            <a:srgbClr val="E8F2FA"/>
          </a:solidFill>
          <a:ln w="12700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94360" y="6967728"/>
            <a:ext cx="1344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A44"/>
                </a:solidFill>
                <a:latin typeface="Calibri"/>
              </a:rPr>
              <a:t>🎙  This page lets anchors stream live constituency results, spotlight swing seats, and filter by party or state on air.</a:t>
            </a:r>
          </a:p>
        </p:txBody>
      </p:sp>
      <p:pic>
        <p:nvPicPr>
          <p:cNvPr id="98" name="Picture 97" descr="M3 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43584"/>
            <a:ext cx="9464040" cy="55193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0058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4008"/>
            <a:ext cx="118872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Calibri"/>
              </a:rPr>
              <a:t>Milestone 4 </a:t>
            </a:r>
            <a:r>
              <a:rPr lang="en-IN" sz="30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3000" b="1" i="0" dirty="0">
                <a:solidFill>
                  <a:srgbClr val="FFFFFF"/>
                </a:solidFill>
                <a:latin typeface="Calibri"/>
              </a:rPr>
              <a:t> Turnout &amp; Demographics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Gender · Category · State turnout · Urban vs Rural classification (in progress)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001000"/>
            <a:ext cx="14630400" cy="228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8001000"/>
            <a:ext cx="14630400" cy="9144"/>
          </a:xfrm>
          <a:prstGeom prst="rect">
            <a:avLst/>
          </a:prstGeom>
          <a:solidFill>
            <a:srgbClr val="D0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8028431"/>
            <a:ext cx="1234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708096"/>
                </a:solidFill>
                <a:latin typeface="Calibri"/>
              </a:rPr>
              <a:t>ElectViz: Election Data Visualization for Media  ·  Infosys Springboard  ·  February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234440"/>
            <a:ext cx="4160520" cy="548640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234440"/>
            <a:ext cx="64008" cy="5486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1307592"/>
            <a:ext cx="3959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Calibri"/>
              </a:rPr>
              <a:t>✅  Delivered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175564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1645920"/>
            <a:ext cx="3675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Gender winners: Male 94.4%  ·  Female 5.6%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24942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2139696"/>
            <a:ext cx="3675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Category split: General 74% · ST 15% · SC 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74320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2633472"/>
            <a:ext cx="3675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State-wise average voter turnout mapped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3697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127248"/>
            <a:ext cx="3675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Top 10 constituencies by turnout identified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73075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3621024"/>
            <a:ext cx="3675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Decade-wise participation trend chart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72000"/>
            <a:ext cx="4160520" cy="214884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4572000"/>
            <a:ext cx="64008" cy="2148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94360" y="4645152"/>
            <a:ext cx="3959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39C12"/>
                </a:solidFill>
                <a:latin typeface="Calibri"/>
              </a:rPr>
              <a:t>🔧  In Progress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93208"/>
            <a:ext cx="73152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4672" y="4983480"/>
            <a:ext cx="3675888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Urban vs Rural tagging using Census 2011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596128"/>
            <a:ext cx="73152" cy="7315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2" y="5486400"/>
            <a:ext cx="3675888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Cross-filter with party performance layer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18888" y="1298448"/>
            <a:ext cx="9418320" cy="5486400"/>
          </a:xfrm>
          <a:prstGeom prst="rect">
            <a:avLst/>
          </a:prstGeom>
          <a:solidFill>
            <a:srgbClr val="B8C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754880" y="1234440"/>
            <a:ext cx="9418320" cy="5486400"/>
          </a:xfrm>
          <a:prstGeom prst="rect">
            <a:avLst/>
          </a:prstGeom>
          <a:solidFill>
            <a:srgbClr val="0D13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1234440"/>
            <a:ext cx="9418320" cy="384048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919472" y="12984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VOTER TURNOUT &amp; DEMOGRAPHICS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0" y="6428232"/>
            <a:ext cx="1371600" cy="23774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710160" y="642823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[ See dashboard image → 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155680" y="1709928"/>
            <a:ext cx="2880360" cy="1691640"/>
          </a:xfrm>
          <a:prstGeom prst="rect">
            <a:avLst/>
          </a:prstGeom>
          <a:solidFill>
            <a:srgbClr val="121E38"/>
          </a:solidFill>
          <a:ln w="635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1155680" y="1874520"/>
            <a:ext cx="2880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77CC"/>
                </a:solidFill>
                <a:latin typeface="Calibri"/>
              </a:rPr>
              <a:t>30.03%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2560320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08096"/>
                </a:solidFill>
                <a:latin typeface="Calibri"/>
              </a:rPr>
              <a:t>Average Voter Turnout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2862072"/>
            <a:ext cx="2880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7AE60"/>
                </a:solidFill>
                <a:latin typeface="Calibri"/>
              </a:rPr>
              <a:t>Highest: Tripura  59.6%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92040" y="1709928"/>
            <a:ext cx="2743200" cy="1691640"/>
          </a:xfrm>
          <a:prstGeom prst="rect">
            <a:avLst/>
          </a:prstGeom>
          <a:solidFill>
            <a:srgbClr val="121E38"/>
          </a:solidFill>
          <a:ln w="635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983480" y="178308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GENDER DISTRIBUTION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0" y="2093976"/>
            <a:ext cx="2423160" cy="201168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316663" y="2093976"/>
            <a:ext cx="135696" cy="201168"/>
          </a:xfrm>
          <a:prstGeom prst="rect">
            <a:avLst/>
          </a:prstGeom>
          <a:solidFill>
            <a:srgbClr val="FF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029200" y="235000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76BBF"/>
                </a:solidFill>
                <a:latin typeface="Calibri"/>
              </a:rPr>
              <a:t>Male 94.4%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35000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76BBF"/>
                </a:solidFill>
                <a:latin typeface="Calibri"/>
              </a:rPr>
              <a:t>25,885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26243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69B4"/>
                </a:solidFill>
                <a:latin typeface="Calibri"/>
              </a:rPr>
              <a:t>Female 5.6%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6243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9B4"/>
                </a:solidFill>
                <a:latin typeface="Calibri"/>
              </a:rPr>
              <a:t> 1,530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18120" y="1709928"/>
            <a:ext cx="3337560" cy="1691640"/>
          </a:xfrm>
          <a:prstGeom prst="rect">
            <a:avLst/>
          </a:prstGeom>
          <a:solidFill>
            <a:srgbClr val="121E38"/>
          </a:solidFill>
          <a:ln w="635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909560" y="1783080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CONSTITUENCY CATEGORY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09560" y="205740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8EA"/>
                </a:solidFill>
                <a:latin typeface="Calibri"/>
              </a:rPr>
              <a:t>General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23960" y="2112264"/>
            <a:ext cx="1691640" cy="109728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8823960" y="2112264"/>
            <a:ext cx="1252733" cy="10972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0561320" y="2057400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8096"/>
                </a:solidFill>
                <a:latin typeface="Calibri"/>
              </a:rPr>
              <a:t>20,302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09560" y="245973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8EA"/>
                </a:solidFill>
                <a:latin typeface="Calibri"/>
              </a:rPr>
              <a:t>ST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23960" y="2514600"/>
            <a:ext cx="1691640" cy="109728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823960" y="2514600"/>
            <a:ext cx="260888" cy="1097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561320" y="2459736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8096"/>
                </a:solidFill>
                <a:latin typeface="Calibri"/>
              </a:rPr>
              <a:t>4,228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9560" y="286207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D8EA"/>
                </a:solidFill>
                <a:latin typeface="Calibri"/>
              </a:rPr>
              <a:t>SC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823960" y="2916936"/>
            <a:ext cx="1691640" cy="109728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8823960" y="2916936"/>
            <a:ext cx="170984" cy="10972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0561320" y="2862072"/>
            <a:ext cx="548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8096"/>
                </a:solidFill>
                <a:latin typeface="Calibri"/>
              </a:rPr>
              <a:t>2,771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64608" y="3566160"/>
            <a:ext cx="9198864" cy="3035808"/>
          </a:xfrm>
          <a:prstGeom prst="rect">
            <a:avLst/>
          </a:prstGeom>
          <a:solidFill>
            <a:srgbClr val="121E38"/>
          </a:solidFill>
          <a:ln w="508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956048" y="3630168"/>
            <a:ext cx="9418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AVG TURNOUT % BY STATE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91836" y="4767337"/>
            <a:ext cx="543153" cy="1496303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956048" y="6318504"/>
            <a:ext cx="9052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08096"/>
                </a:solidFill>
                <a:latin typeface="Calibri"/>
              </a:rPr>
              <a:t>Tripura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97092" y="4784911"/>
            <a:ext cx="543153" cy="1478729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861304" y="6318504"/>
            <a:ext cx="9052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08096"/>
                </a:solidFill>
                <a:latin typeface="Calibri"/>
              </a:rPr>
              <a:t>Delhi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02348" y="4882823"/>
            <a:ext cx="543153" cy="1380817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766560" y="6318504"/>
            <a:ext cx="9052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08096"/>
                </a:solidFill>
                <a:latin typeface="Calibri"/>
              </a:rPr>
              <a:t>Goa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07604" y="4940567"/>
            <a:ext cx="543153" cy="1323073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671816" y="6318504"/>
            <a:ext cx="9052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08096"/>
                </a:solidFill>
                <a:latin typeface="Calibri"/>
              </a:rPr>
              <a:t>MP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712860" y="5083669"/>
            <a:ext cx="543153" cy="1179971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577072" y="6318504"/>
            <a:ext cx="9052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08096"/>
                </a:solidFill>
                <a:latin typeface="Calibri"/>
              </a:rPr>
              <a:t>Maha.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618116" y="5226772"/>
            <a:ext cx="543153" cy="1036868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482328" y="6318504"/>
            <a:ext cx="9052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08096"/>
                </a:solidFill>
                <a:latin typeface="Calibri"/>
              </a:rPr>
              <a:t>Bihar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523372" y="5372386"/>
            <a:ext cx="543153" cy="891254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0387584" y="6318504"/>
            <a:ext cx="9052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08096"/>
                </a:solidFill>
                <a:latin typeface="Calibri"/>
              </a:rPr>
              <a:t>Megh.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1428628" y="5455235"/>
            <a:ext cx="543153" cy="808405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1292840" y="6318504"/>
            <a:ext cx="9052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08096"/>
                </a:solidFill>
                <a:latin typeface="Calibri"/>
              </a:rPr>
              <a:t>Arunachal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333884" y="5533063"/>
            <a:ext cx="543153" cy="730577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2198096" y="6318504"/>
            <a:ext cx="9052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08096"/>
                </a:solidFill>
                <a:latin typeface="Calibri"/>
              </a:rPr>
              <a:t>AP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239140" y="5701271"/>
            <a:ext cx="543153" cy="562369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13103352" y="6318504"/>
            <a:ext cx="9052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0" i="0">
                <a:solidFill>
                  <a:srgbClr val="708096"/>
                </a:solidFill>
                <a:latin typeface="Calibri"/>
              </a:rPr>
              <a:t>J&amp;K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11480" y="6903720"/>
            <a:ext cx="13807440" cy="502920"/>
          </a:xfrm>
          <a:prstGeom prst="rect">
            <a:avLst/>
          </a:prstGeom>
          <a:solidFill>
            <a:srgbClr val="E8F2FA"/>
          </a:solidFill>
          <a:ln w="12700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594360" y="6967728"/>
            <a:ext cx="1344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A44"/>
                </a:solidFill>
                <a:latin typeface="Calibri"/>
              </a:rPr>
              <a:t>🎙  This page reveals which states and constituencies have the lowest turnout — critical for newsroom-produced voter engagement stories.</a:t>
            </a:r>
          </a:p>
        </p:txBody>
      </p:sp>
      <p:pic>
        <p:nvPicPr>
          <p:cNvPr id="90" name="Picture 89" descr="M4 Dashboar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34439"/>
            <a:ext cx="9418320" cy="54754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0058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4008"/>
            <a:ext cx="118872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Calibri"/>
              </a:rPr>
              <a:t>Milestone 5 </a:t>
            </a:r>
            <a:r>
              <a:rPr lang="en-IN" sz="30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3000" b="1" i="0" dirty="0">
                <a:solidFill>
                  <a:srgbClr val="FFFFFF"/>
                </a:solidFill>
                <a:latin typeface="Calibri"/>
              </a:rPr>
              <a:t> Party &amp; Candidate Performance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State dominance · Win margins · Candidate re-elections · Alliance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001000"/>
            <a:ext cx="14630400" cy="228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8001000"/>
            <a:ext cx="14630400" cy="9144"/>
          </a:xfrm>
          <a:prstGeom prst="rect">
            <a:avLst/>
          </a:prstGeom>
          <a:solidFill>
            <a:srgbClr val="D0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8028431"/>
            <a:ext cx="1234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708096"/>
                </a:solidFill>
                <a:latin typeface="Calibri"/>
              </a:rPr>
              <a:t>ElectViz: Election Data Visualization for Media  ·  Infosys Springboard  ·  February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234440"/>
            <a:ext cx="4160520" cy="548640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234440"/>
            <a:ext cx="64008" cy="5486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1307592"/>
            <a:ext cx="3959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Calibri"/>
              </a:rPr>
              <a:t>✅  Delivered in Demo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1773936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1664208"/>
            <a:ext cx="3675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State-wise party dominance mapping and heatmap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267712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2157984"/>
            <a:ext cx="3675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Top 10 winning candidates by vote 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761488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2651760"/>
            <a:ext cx="3675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Win/loss margin analysis per constituency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55264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145536"/>
            <a:ext cx="3675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Candidate re-election performance tracker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749040"/>
            <a:ext cx="73152" cy="731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3639312"/>
            <a:ext cx="36758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Alliance-level seat tally insights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736592"/>
            <a:ext cx="2011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02920" y="4736592"/>
            <a:ext cx="64008" cy="47548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" y="477316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0077CC"/>
                </a:solidFill>
                <a:latin typeface="Calibri"/>
              </a:rPr>
              <a:t>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8096"/>
                </a:solidFill>
                <a:latin typeface="Calibri"/>
              </a:rPr>
              <a:t>10,015 wins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06040" y="4736592"/>
            <a:ext cx="2011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606040" y="4736592"/>
            <a:ext cx="64008" cy="475488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52344" y="477316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6BBF"/>
                </a:solidFill>
                <a:latin typeface="Calibri"/>
              </a:rPr>
              <a:t>BJP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52344" y="497433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8096"/>
                </a:solidFill>
                <a:latin typeface="Calibri"/>
              </a:rPr>
              <a:t>4,990 wins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303520"/>
            <a:ext cx="2011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02920" y="5303520"/>
            <a:ext cx="64008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" y="534009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Calibri"/>
              </a:rPr>
              <a:t>TDP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55412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8096"/>
                </a:solidFill>
                <a:latin typeface="Calibri"/>
              </a:rPr>
              <a:t>1,450 wins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06040" y="5303520"/>
            <a:ext cx="201168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2606040" y="5303520"/>
            <a:ext cx="64008" cy="4754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52344" y="534009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E44AD"/>
                </a:solidFill>
                <a:latin typeface="Calibri"/>
              </a:rPr>
              <a:t>INC(I)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52344" y="55412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8096"/>
                </a:solidFill>
                <a:latin typeface="Calibri"/>
              </a:rPr>
              <a:t>1,004 wins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18888" y="1298448"/>
            <a:ext cx="9418320" cy="5486400"/>
          </a:xfrm>
          <a:prstGeom prst="rect">
            <a:avLst/>
          </a:prstGeom>
          <a:solidFill>
            <a:srgbClr val="B8C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754880" y="1234440"/>
            <a:ext cx="9418320" cy="5486400"/>
          </a:xfrm>
          <a:prstGeom prst="rect">
            <a:avLst/>
          </a:prstGeom>
          <a:solidFill>
            <a:srgbClr val="0D1322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754880" y="1234440"/>
            <a:ext cx="9418320" cy="384048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919472" y="129844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PARTY &amp; CANDIDATE PERFORMANCE  ·  Top Wins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710160" y="6428232"/>
            <a:ext cx="1371600" cy="23774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2710160" y="642823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[ See dashboard image → 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892040" y="1709928"/>
            <a:ext cx="9144000" cy="3182112"/>
          </a:xfrm>
          <a:prstGeom prst="rect">
            <a:avLst/>
          </a:prstGeom>
          <a:solidFill>
            <a:srgbClr val="121E38"/>
          </a:solidFill>
          <a:ln w="508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65192" y="1764792"/>
            <a:ext cx="9418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TOP 10 PARTIES BY ALL-TIME WINS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65192" y="202082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Indian National Congress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03720" y="2068372"/>
            <a:ext cx="71323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903720" y="2068372"/>
            <a:ext cx="6594566" cy="18105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3473684" y="2042378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 dirty="0">
                <a:solidFill>
                  <a:srgbClr val="708096"/>
                </a:solidFill>
                <a:latin typeface="Calibri"/>
              </a:rPr>
              <a:t>10,015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65192" y="2313432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Bharatiya Janata Party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03720" y="2360980"/>
            <a:ext cx="71323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03720" y="2360980"/>
            <a:ext cx="3553697" cy="142646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503137" y="2313432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4,990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65192" y="260604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Independent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03720" y="2653588"/>
            <a:ext cx="71323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903720" y="2653588"/>
            <a:ext cx="1056851" cy="142646"/>
          </a:xfrm>
          <a:prstGeom prst="rect">
            <a:avLst/>
          </a:prstGeom>
          <a:solidFill>
            <a:srgbClr val="70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006291" y="2606040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1,484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65192" y="2898648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Telugu Desam Party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03720" y="2946196"/>
            <a:ext cx="71323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6903720" y="2946196"/>
            <a:ext cx="1032637" cy="14264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982077" y="2898648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1,450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965192" y="31912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INC (I)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903720" y="3238804"/>
            <a:ext cx="71323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6903720" y="3238804"/>
            <a:ext cx="715012" cy="14264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664452" y="3191256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1,004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65192" y="348386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Janata Party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03720" y="3531412"/>
            <a:ext cx="71323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6903720" y="3531412"/>
            <a:ext cx="556912" cy="14264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506352" y="3483864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782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65192" y="3776472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RJD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03720" y="3824020"/>
            <a:ext cx="71323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6903720" y="3824020"/>
            <a:ext cx="404509" cy="142646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353949" y="3776472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568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65192" y="4069080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CPI(M)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903720" y="4116628"/>
            <a:ext cx="71323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903720" y="4116628"/>
            <a:ext cx="379583" cy="142646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7329023" y="4069080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533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65192" y="4361688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Janata Dal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03720" y="4409236"/>
            <a:ext cx="71323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6903720" y="4409236"/>
            <a:ext cx="376734" cy="142646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326174" y="4361688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529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65192" y="465429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Shiv Sena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903720" y="4701844"/>
            <a:ext cx="7132320" cy="142646"/>
          </a:xfrm>
          <a:prstGeom prst="rect">
            <a:avLst/>
          </a:prstGeom>
          <a:solidFill>
            <a:srgbClr val="1A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6903720" y="4701844"/>
            <a:ext cx="335429" cy="14264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7284869" y="4654296"/>
            <a:ext cx="594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096"/>
                </a:solidFill>
                <a:latin typeface="Calibri"/>
              </a:rPr>
              <a:t>471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892040" y="4946903"/>
            <a:ext cx="9144000" cy="1664209"/>
          </a:xfrm>
          <a:prstGeom prst="rect">
            <a:avLst/>
          </a:prstGeom>
          <a:solidFill>
            <a:srgbClr val="121E38"/>
          </a:solidFill>
          <a:ln w="5080">
            <a:solidFill>
              <a:srgbClr val="1A2D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965192" y="5001768"/>
            <a:ext cx="9418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08096"/>
                </a:solidFill>
                <a:latin typeface="Calibri"/>
              </a:rPr>
              <a:t>TOP CANDIDATES BY VOTES RECEIVED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937760" y="5257800"/>
            <a:ext cx="9144000" cy="228600"/>
          </a:xfrm>
          <a:prstGeom prst="rect">
            <a:avLst/>
          </a:prstGeom>
          <a:solidFill>
            <a:srgbClr val="12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983480" y="527608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Kailash Vijayvargiya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75320" y="527608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8096"/>
                </a:solidFill>
                <a:latin typeface="Calibri"/>
              </a:rPr>
              <a:t>BJP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38360" y="527608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77CC"/>
                </a:solidFill>
                <a:latin typeface="Calibri"/>
              </a:rPr>
              <a:t>1,734,313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937760" y="5504688"/>
            <a:ext cx="9144000" cy="228600"/>
          </a:xfrm>
          <a:prstGeom prst="rect">
            <a:avLst/>
          </a:prstGeom>
          <a:solidFill>
            <a:srgbClr val="0D1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983480" y="552297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Yogender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75320" y="552297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8096"/>
                </a:solidFill>
                <a:latin typeface="Calibri"/>
              </a:rPr>
              <a:t>BJP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738360" y="552297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77CC"/>
                </a:solidFill>
                <a:latin typeface="Calibri"/>
              </a:rPr>
              <a:t>1,480,000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0" y="5751576"/>
            <a:ext cx="9144000" cy="228600"/>
          </a:xfrm>
          <a:prstGeom prst="rect">
            <a:avLst/>
          </a:prstGeom>
          <a:solidFill>
            <a:srgbClr val="121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4983480" y="57698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Sushma Swaraj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75320" y="576986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8096"/>
                </a:solidFill>
                <a:latin typeface="Calibri"/>
              </a:rPr>
              <a:t>BJP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738360" y="5769864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77CC"/>
                </a:solidFill>
                <a:latin typeface="Calibri"/>
              </a:rPr>
              <a:t>1,120,000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937760" y="5998464"/>
            <a:ext cx="9144000" cy="228600"/>
          </a:xfrm>
          <a:prstGeom prst="rect">
            <a:avLst/>
          </a:prstGeom>
          <a:solidFill>
            <a:srgbClr val="0D1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983480" y="601675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D8EA"/>
                </a:solidFill>
                <a:latin typeface="Calibri"/>
              </a:rPr>
              <a:t>Rajnath Singh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75320" y="60167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08096"/>
                </a:solidFill>
                <a:latin typeface="Calibri"/>
              </a:rPr>
              <a:t>BJP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738360" y="601675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77CC"/>
                </a:solidFill>
                <a:latin typeface="Calibri"/>
              </a:rPr>
              <a:t>932,000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11480" y="6903720"/>
            <a:ext cx="13807440" cy="502920"/>
          </a:xfrm>
          <a:prstGeom prst="rect">
            <a:avLst/>
          </a:prstGeom>
          <a:solidFill>
            <a:srgbClr val="E8F2FA"/>
          </a:solidFill>
          <a:ln w="12700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594360" y="6967728"/>
            <a:ext cx="134416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0A1A44"/>
                </a:solidFill>
                <a:latin typeface="Calibri"/>
              </a:rPr>
              <a:t>  This page shows which parties dominate which states and which candidates attract the most votes </a:t>
            </a:r>
            <a:r>
              <a:rPr lang="en-IN" sz="1100" b="0" i="0" dirty="0">
                <a:solidFill>
                  <a:srgbClr val="0A1A44"/>
                </a:solidFill>
                <a:latin typeface="Calibri"/>
              </a:rPr>
              <a:t>-</a:t>
            </a:r>
            <a:r>
              <a:rPr sz="1100" b="0" i="0" dirty="0">
                <a:solidFill>
                  <a:srgbClr val="0A1A44"/>
                </a:solidFill>
                <a:latin typeface="Calibri"/>
              </a:rPr>
              <a:t> perfect for election night analysis.</a:t>
            </a:r>
          </a:p>
        </p:txBody>
      </p:sp>
      <p:pic>
        <p:nvPicPr>
          <p:cNvPr id="111" name="Picture 110" descr="M5 Dashboar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13322"/>
            <a:ext cx="9418320" cy="55412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0058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4008"/>
            <a:ext cx="1188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Urban vs Rural Constituency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Census 2011 Urban-Rural Population Table · Metro, Semi-urban, Village seat tagging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001000"/>
            <a:ext cx="14630400" cy="228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8001000"/>
            <a:ext cx="14630400" cy="9144"/>
          </a:xfrm>
          <a:prstGeom prst="rect">
            <a:avLst/>
          </a:prstGeom>
          <a:solidFill>
            <a:srgbClr val="D0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8028431"/>
            <a:ext cx="1234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708096"/>
                </a:solidFill>
                <a:latin typeface="Calibri"/>
              </a:rPr>
              <a:t>ElectViz: Election Data Visualization for Media  ·  Infosys Springboard  ·  February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234440"/>
            <a:ext cx="13716000" cy="566928"/>
          </a:xfrm>
          <a:prstGeom prst="rect">
            <a:avLst/>
          </a:prstGeom>
          <a:solidFill>
            <a:srgbClr val="0A1A44"/>
          </a:solidFill>
          <a:ln w="15240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234440"/>
            <a:ext cx="82296" cy="56692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1335024"/>
            <a:ext cx="1335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Method: Map each constituency's district to Census 2011 U-R population ratio  ·  Urban ≥60%  ·  Rural &lt;30%  ·  Semi-Urban in between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38528"/>
            <a:ext cx="4370832" cy="324612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1938528"/>
            <a:ext cx="4370832" cy="54864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16" y="204825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A2230"/>
                </a:solidFill>
                <a:latin typeface="Calibri"/>
              </a:rPr>
              <a:t>🏙️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2606040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7CC"/>
                </a:solidFill>
                <a:latin typeface="Calibri"/>
              </a:rPr>
              <a:t>Urban Constituencies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297180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Calibri"/>
              </a:rPr>
              <a:t>Districts with ≥60% urban population
Covers: Delhi, Mumbai, Hyderabad, Bengaluru,
Kolkata, Chennai and metro areas
Higher turnout · Multi-party competition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10912" y="1938528"/>
            <a:ext cx="4370832" cy="324612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10912" y="1938528"/>
            <a:ext cx="4370832" cy="54864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38928" y="204825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A2230"/>
                </a:solidFill>
                <a:latin typeface="Calibri"/>
              </a:rPr>
              <a:t>🏘️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8928" y="2606040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6BBF"/>
                </a:solidFill>
                <a:latin typeface="Calibri"/>
              </a:rPr>
              <a:t>Semi-Urban Constituencies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8928" y="297180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Calibri"/>
              </a:rPr>
              <a:t>Districts with 30–60% urban population
Mainly tier-2 cities and district HQs
Classic swing seats — competitive across parties
Often decide state-level majorities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64624" y="1938528"/>
            <a:ext cx="4370832" cy="324612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564624" y="1938528"/>
            <a:ext cx="437083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92640" y="204825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A2230"/>
                </a:solidFill>
                <a:latin typeface="Calibri"/>
              </a:rPr>
              <a:t>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2606040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Calibri"/>
              </a:rPr>
              <a:t>Rural Constituencies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297180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Calibri"/>
              </a:rPr>
              <a:t>Districts with &lt;30% urban population
Village-dominant, common in SC/ST reserved seats
Strong regional and single-party dominance
Lower turnout variation year on year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49240"/>
            <a:ext cx="13716000" cy="2212848"/>
          </a:xfrm>
          <a:prstGeom prst="rect">
            <a:avLst/>
          </a:prstGeom>
          <a:solidFill>
            <a:srgbClr val="F0F4F8"/>
          </a:solidFill>
          <a:ln w="15240">
            <a:solidFill>
              <a:srgbClr val="0077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57200" y="5349240"/>
            <a:ext cx="82296" cy="221284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" y="5422392"/>
            <a:ext cx="1335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1A44"/>
                </a:solidFill>
                <a:latin typeface="Calibri"/>
              </a:rPr>
              <a:t>Real Examples from Census 2011: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806440"/>
            <a:ext cx="4370832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8368" y="5806440"/>
            <a:ext cx="64008" cy="148132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60" y="5870448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7CC"/>
                </a:solidFill>
                <a:latin typeface="Calibri"/>
              </a:rPr>
              <a:t>Delhi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8134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230"/>
                </a:solidFill>
                <a:latin typeface="Calibri"/>
              </a:rPr>
              <a:t>97.5% urban urban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38251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8096"/>
                </a:solidFill>
                <a:latin typeface="Calibri"/>
              </a:rPr>
              <a:t>→ All 70 Vidhan Sabha constituencies tagged URBAN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12080" y="5806440"/>
            <a:ext cx="4370832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212080" y="5806440"/>
            <a:ext cx="64008" cy="14813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376672" y="5870448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  <a:latin typeface="Calibri"/>
              </a:rPr>
              <a:t>Bihar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76672" y="618134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230"/>
                </a:solidFill>
                <a:latin typeface="Calibri"/>
              </a:rPr>
              <a:t>11.3% urban urban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76672" y="638251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8096"/>
                </a:solidFill>
                <a:latin typeface="Calibri"/>
              </a:rPr>
              <a:t>→ Majority constituencies tagged RURAL-dominant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65792" y="5806440"/>
            <a:ext cx="4370832" cy="14813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9765792" y="5806440"/>
            <a:ext cx="64008" cy="1481328"/>
          </a:xfrm>
          <a:prstGeom prst="rect">
            <a:avLst/>
          </a:prstGeom>
          <a:solidFill>
            <a:srgbClr val="27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930384" y="5870448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6BBF"/>
                </a:solidFill>
                <a:latin typeface="Calibri"/>
              </a:rPr>
              <a:t>Maharashtra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30384" y="6181344"/>
            <a:ext cx="4114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230"/>
                </a:solidFill>
                <a:latin typeface="Calibri"/>
              </a:rPr>
              <a:t>45.2% urban urban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30384" y="638251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8096"/>
                </a:solidFill>
                <a:latin typeface="Calibri"/>
              </a:rPr>
              <a:t>→ Mix of Urban (Mumbai) + Rural (Vidarbha) + Semi-Urban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0058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4008"/>
            <a:ext cx="1188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Team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Individual contributions and role assignments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001000"/>
            <a:ext cx="14630400" cy="228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8001000"/>
            <a:ext cx="14630400" cy="9144"/>
          </a:xfrm>
          <a:prstGeom prst="rect">
            <a:avLst/>
          </a:prstGeom>
          <a:solidFill>
            <a:srgbClr val="D0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8028431"/>
            <a:ext cx="1234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708096"/>
                </a:solidFill>
                <a:latin typeface="Calibri"/>
              </a:rPr>
              <a:t>ElectViz: Election Data Visualization for Media  ·  Infosys Springboard  ·  February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" y="1234440"/>
            <a:ext cx="2633472" cy="630936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353312" y="1399032"/>
            <a:ext cx="731520" cy="731520"/>
          </a:xfrm>
          <a:prstGeom prst="rect">
            <a:avLst/>
          </a:prstGeom>
          <a:solidFill>
            <a:srgbClr val="005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139903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2240280"/>
            <a:ext cx="2450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0A1A44"/>
                </a:solidFill>
                <a:latin typeface="Calibri"/>
              </a:rPr>
              <a:t>Hamiz</a:t>
            </a:r>
            <a:r>
              <a:rPr lang="en-IN" sz="1400" b="1" i="0" dirty="0">
                <a:solidFill>
                  <a:srgbClr val="0A1A44"/>
                </a:solidFill>
                <a:latin typeface="Calibri"/>
              </a:rPr>
              <a:t> K</a:t>
            </a:r>
            <a:endParaRPr sz="1400" b="1" i="0" dirty="0">
              <a:solidFill>
                <a:srgbClr val="0A1A44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76656" y="2587752"/>
            <a:ext cx="2084832" cy="237744"/>
          </a:xfrm>
          <a:prstGeom prst="rect">
            <a:avLst/>
          </a:prstGeom>
          <a:solidFill>
            <a:srgbClr val="005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" y="2587752"/>
            <a:ext cx="2084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FFFFFF"/>
                </a:solidFill>
                <a:latin typeface="Calibri"/>
              </a:rPr>
              <a:t>Team Lead</a:t>
            </a:r>
            <a:r>
              <a:rPr lang="en-IN" sz="900" b="1" i="0" dirty="0">
                <a:solidFill>
                  <a:srgbClr val="FFFFFF"/>
                </a:solidFill>
                <a:latin typeface="Calibri"/>
              </a:rPr>
              <a:t> &amp; Data Analyst</a:t>
            </a:r>
            <a:endParaRPr sz="9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" y="3026664"/>
            <a:ext cx="73152" cy="73152"/>
          </a:xfrm>
          <a:prstGeom prst="rect">
            <a:avLst/>
          </a:prstGeom>
          <a:solidFill>
            <a:srgbClr val="005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" y="2953512"/>
            <a:ext cx="226771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A2230"/>
                </a:solidFill>
                <a:latin typeface="Calibri"/>
              </a:rPr>
              <a:t>1</a:t>
            </a:r>
            <a:r>
              <a:rPr lang="en-IN" sz="1000" b="0" i="0" dirty="0">
                <a:solidFill>
                  <a:srgbClr val="1A2230"/>
                </a:solidFill>
                <a:latin typeface="Calibri"/>
              </a:rPr>
              <a:t>1</a:t>
            </a:r>
            <a:r>
              <a:rPr sz="1000" b="0" i="0" dirty="0">
                <a:solidFill>
                  <a:srgbClr val="1A2230"/>
                </a:solidFill>
                <a:latin typeface="Calibri"/>
              </a:rPr>
              <a:t> states merged, dataset validated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3465576"/>
            <a:ext cx="73152" cy="73152"/>
          </a:xfrm>
          <a:prstGeom prst="rect">
            <a:avLst/>
          </a:prstGeom>
          <a:solidFill>
            <a:srgbClr val="005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" y="339242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230"/>
                </a:solidFill>
                <a:latin typeface="Calibri"/>
              </a:rPr>
              <a:t>GitHub setup + maintenance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3904488"/>
            <a:ext cx="73152" cy="73152"/>
          </a:xfrm>
          <a:prstGeom prst="rect">
            <a:avLst/>
          </a:prstGeom>
          <a:solidFill>
            <a:srgbClr val="005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" y="383133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230"/>
                </a:solidFill>
                <a:latin typeface="Calibri"/>
              </a:rPr>
              <a:t>Power BI dashboard development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" y="4343400"/>
            <a:ext cx="73152" cy="73152"/>
          </a:xfrm>
          <a:prstGeom prst="rect">
            <a:avLst/>
          </a:prstGeom>
          <a:solidFill>
            <a:srgbClr val="0052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6656" y="427024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230"/>
                </a:solidFill>
                <a:latin typeface="Calibri"/>
              </a:rPr>
              <a:t>PPT + final report preparation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54680" y="1234440"/>
            <a:ext cx="2633472" cy="630936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05656" y="1399032"/>
            <a:ext cx="731520" cy="7315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05656" y="139903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2240280"/>
            <a:ext cx="2450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A44"/>
                </a:solidFill>
                <a:latin typeface="Calibri"/>
              </a:rPr>
              <a:t>Karishma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9000" y="2587752"/>
            <a:ext cx="2084832" cy="237744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29000" y="2587752"/>
            <a:ext cx="2084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Data Analyst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82696" y="3026664"/>
            <a:ext cx="73152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29000" y="2953512"/>
            <a:ext cx="226771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A2230"/>
                </a:solidFill>
                <a:latin typeface="Calibri"/>
              </a:rPr>
              <a:t>10 states </a:t>
            </a:r>
            <a:r>
              <a:rPr lang="en-IN" sz="1000" b="0" i="0" dirty="0">
                <a:solidFill>
                  <a:srgbClr val="1A2230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1A2230"/>
                </a:solidFill>
                <a:latin typeface="Calibri"/>
              </a:rPr>
              <a:t> VS completed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82696" y="3465576"/>
            <a:ext cx="73152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29000" y="339242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230"/>
                </a:solidFill>
                <a:latin typeface="Calibri"/>
              </a:rPr>
              <a:t>LS collection in progress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82696" y="3904488"/>
            <a:ext cx="73152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29000" y="383133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230"/>
                </a:solidFill>
                <a:latin typeface="Calibri"/>
              </a:rPr>
              <a:t>Bypoll data cleaning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82696" y="4343400"/>
            <a:ext cx="73152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429000" y="427024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230"/>
                </a:solidFill>
                <a:latin typeface="Calibri"/>
              </a:rPr>
              <a:t>Column mapping verification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7024" y="1234440"/>
            <a:ext cx="2633472" cy="630936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858000" y="1399032"/>
            <a:ext cx="731520" cy="731520"/>
          </a:xfrm>
          <a:prstGeom prst="rect">
            <a:avLst/>
          </a:prstGeom>
          <a:solidFill>
            <a:srgbClr val="7A2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858000" y="139903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98464" y="2240280"/>
            <a:ext cx="2450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A44"/>
                </a:solidFill>
                <a:latin typeface="Calibri"/>
              </a:rPr>
              <a:t>Vennela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81344" y="2587752"/>
            <a:ext cx="2084832" cy="237744"/>
          </a:xfrm>
          <a:prstGeom prst="rect">
            <a:avLst/>
          </a:prstGeom>
          <a:solidFill>
            <a:srgbClr val="7A2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181344" y="2587752"/>
            <a:ext cx="2084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Data Analyst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3026664"/>
            <a:ext cx="73152" cy="73152"/>
          </a:xfrm>
          <a:prstGeom prst="rect">
            <a:avLst/>
          </a:prstGeom>
          <a:solidFill>
            <a:srgbClr val="7A2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181344" y="2953512"/>
            <a:ext cx="226771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000" dirty="0">
                <a:solidFill>
                  <a:srgbClr val="1A2230"/>
                </a:solidFill>
                <a:latin typeface="Calibri"/>
              </a:rPr>
              <a:t>5</a:t>
            </a:r>
            <a:r>
              <a:rPr sz="1000" b="0" i="0" dirty="0">
                <a:solidFill>
                  <a:srgbClr val="1A2230"/>
                </a:solidFill>
                <a:latin typeface="Calibri"/>
              </a:rPr>
              <a:t> states assigned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3465576"/>
            <a:ext cx="73152" cy="73152"/>
          </a:xfrm>
          <a:prstGeom prst="rect">
            <a:avLst/>
          </a:prstGeom>
          <a:solidFill>
            <a:srgbClr val="7A2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81344" y="339242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230"/>
                </a:solidFill>
                <a:latin typeface="Calibri"/>
              </a:rPr>
              <a:t>VS + LS data collection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3904488"/>
            <a:ext cx="73152" cy="73152"/>
          </a:xfrm>
          <a:prstGeom prst="rect">
            <a:avLst/>
          </a:prstGeom>
          <a:solidFill>
            <a:srgbClr val="7A2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181344" y="383133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230"/>
                </a:solidFill>
                <a:latin typeface="Calibri"/>
              </a:rPr>
              <a:t>Bypoll for assigned states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4343400"/>
            <a:ext cx="73152" cy="73152"/>
          </a:xfrm>
          <a:prstGeom prst="rect">
            <a:avLst/>
          </a:prstGeom>
          <a:solidFill>
            <a:srgbClr val="7A2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181344" y="427024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230"/>
                </a:solidFill>
                <a:latin typeface="Calibri"/>
              </a:rPr>
              <a:t>State-level QC checks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59368" y="1234440"/>
            <a:ext cx="2633472" cy="630936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610344" y="1399032"/>
            <a:ext cx="731520" cy="731520"/>
          </a:xfrm>
          <a:prstGeom prst="rect">
            <a:avLst/>
          </a:prstGeom>
          <a:solidFill>
            <a:srgbClr val="B0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610344" y="139903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50808" y="2240280"/>
            <a:ext cx="2450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A44"/>
                </a:solidFill>
                <a:latin typeface="Calibri"/>
              </a:rPr>
              <a:t>Aman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933688" y="2587752"/>
            <a:ext cx="2084832" cy="237744"/>
          </a:xfrm>
          <a:prstGeom prst="rect">
            <a:avLst/>
          </a:prstGeom>
          <a:solidFill>
            <a:srgbClr val="B0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933688" y="2587752"/>
            <a:ext cx="2084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Data Analyst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87384" y="3026664"/>
            <a:ext cx="73152" cy="73152"/>
          </a:xfrm>
          <a:prstGeom prst="rect">
            <a:avLst/>
          </a:prstGeom>
          <a:solidFill>
            <a:srgbClr val="B0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933688" y="2953512"/>
            <a:ext cx="226771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000" dirty="0">
                <a:solidFill>
                  <a:srgbClr val="1A2230"/>
                </a:solidFill>
                <a:latin typeface="Calibri"/>
              </a:rPr>
              <a:t>5</a:t>
            </a:r>
            <a:r>
              <a:rPr sz="1000" b="0" i="0" dirty="0">
                <a:solidFill>
                  <a:srgbClr val="1A2230"/>
                </a:solidFill>
                <a:latin typeface="Calibri"/>
              </a:rPr>
              <a:t> states assigned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87384" y="3465576"/>
            <a:ext cx="73152" cy="73152"/>
          </a:xfrm>
          <a:prstGeom prst="rect">
            <a:avLst/>
          </a:prstGeom>
          <a:solidFill>
            <a:srgbClr val="B0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933688" y="3392424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A2230"/>
                </a:solidFill>
                <a:latin typeface="Calibri"/>
              </a:rPr>
              <a:t>Data formatting + cleaning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87384" y="3904488"/>
            <a:ext cx="73152" cy="73152"/>
          </a:xfrm>
          <a:prstGeom prst="rect">
            <a:avLst/>
          </a:prstGeom>
          <a:solidFill>
            <a:srgbClr val="B0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933688" y="3831336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1A2230"/>
                </a:solidFill>
                <a:latin typeface="Calibri"/>
              </a:rPr>
              <a:t>Bypoll</a:t>
            </a:r>
            <a:r>
              <a:rPr sz="1000" b="0" i="0" dirty="0">
                <a:solidFill>
                  <a:srgbClr val="1A2230"/>
                </a:solidFill>
                <a:latin typeface="Calibri"/>
              </a:rPr>
              <a:t> data mapping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787384" y="4343400"/>
            <a:ext cx="73152" cy="73152"/>
          </a:xfrm>
          <a:prstGeom prst="rect">
            <a:avLst/>
          </a:prstGeom>
          <a:solidFill>
            <a:srgbClr val="B0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933688" y="4270248"/>
            <a:ext cx="22677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A2230"/>
                </a:solidFill>
                <a:latin typeface="Calibri"/>
              </a:rPr>
              <a:t>Validation reports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11712" y="1234440"/>
            <a:ext cx="2633472" cy="6309360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2362688" y="1399032"/>
            <a:ext cx="731520" cy="731520"/>
          </a:xfrm>
          <a:prstGeom prst="rect">
            <a:avLst/>
          </a:prstGeom>
          <a:solidFill>
            <a:srgbClr val="8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2362688" y="139903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03152" y="2240280"/>
            <a:ext cx="2450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A1A44"/>
                </a:solidFill>
                <a:latin typeface="Calibri"/>
              </a:rPr>
              <a:t>Gajavadan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686032" y="2587752"/>
            <a:ext cx="2084832" cy="237744"/>
          </a:xfrm>
          <a:prstGeom prst="rect">
            <a:avLst/>
          </a:prstGeom>
          <a:solidFill>
            <a:srgbClr val="8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1686032" y="2587752"/>
            <a:ext cx="20848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900" b="1" i="0" dirty="0">
                <a:solidFill>
                  <a:srgbClr val="FFFFFF"/>
                </a:solidFill>
                <a:latin typeface="Calibri"/>
              </a:rPr>
              <a:t>Data Analyst</a:t>
            </a:r>
            <a:endParaRPr sz="9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11539728" y="3026664"/>
            <a:ext cx="73152" cy="73152"/>
          </a:xfrm>
          <a:prstGeom prst="rect">
            <a:avLst/>
          </a:prstGeom>
          <a:solidFill>
            <a:srgbClr val="8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1686032" y="2953512"/>
            <a:ext cx="226771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dirty="0">
                <a:solidFill>
                  <a:srgbClr val="1A2230"/>
                </a:solidFill>
              </a:rPr>
              <a:t>5 states assigned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539728" y="3465576"/>
            <a:ext cx="73152" cy="73152"/>
          </a:xfrm>
          <a:prstGeom prst="rect">
            <a:avLst/>
          </a:prstGeom>
          <a:solidFill>
            <a:srgbClr val="8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1686032" y="3392424"/>
            <a:ext cx="226771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dirty="0">
                <a:solidFill>
                  <a:srgbClr val="1A2230"/>
                </a:solidFill>
              </a:rPr>
              <a:t>Data formatting + cleaning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539728" y="3904488"/>
            <a:ext cx="73152" cy="73152"/>
          </a:xfrm>
          <a:prstGeom prst="rect">
            <a:avLst/>
          </a:prstGeom>
          <a:solidFill>
            <a:srgbClr val="8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1686032" y="3831336"/>
            <a:ext cx="226771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dirty="0" err="1">
                <a:solidFill>
                  <a:srgbClr val="1A2230"/>
                </a:solidFill>
              </a:rPr>
              <a:t>Bypoll</a:t>
            </a:r>
            <a:r>
              <a:rPr lang="en-IN" sz="1000" dirty="0">
                <a:solidFill>
                  <a:srgbClr val="1A2230"/>
                </a:solidFill>
              </a:rPr>
              <a:t> data mapping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1539728" y="4343400"/>
            <a:ext cx="73152" cy="73152"/>
          </a:xfrm>
          <a:prstGeom prst="rect">
            <a:avLst/>
          </a:prstGeom>
          <a:solidFill>
            <a:srgbClr val="8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1686032" y="4270248"/>
            <a:ext cx="226771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dirty="0">
                <a:solidFill>
                  <a:srgbClr val="1A2230"/>
                </a:solidFill>
              </a:rPr>
              <a:t>Validation reports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4849"/>
            <a:ext cx="14630400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00" cy="1005840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4008"/>
            <a:ext cx="1188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Challenges &amp;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  <a:latin typeface="Calibri"/>
              </a:rPr>
              <a:t>Issues encountered and how the team resolved them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8001000"/>
            <a:ext cx="14630400" cy="228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0" y="8001000"/>
            <a:ext cx="14630400" cy="9144"/>
          </a:xfrm>
          <a:prstGeom prst="rect">
            <a:avLst/>
          </a:prstGeom>
          <a:solidFill>
            <a:srgbClr val="D0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8028431"/>
            <a:ext cx="1234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 dirty="0">
                <a:solidFill>
                  <a:srgbClr val="708096"/>
                </a:solidFill>
                <a:latin typeface="Calibri"/>
              </a:rPr>
              <a:t>ElectViz: Election Data Visualization for Media  ·  Infosys Springboard  ·  February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234440"/>
            <a:ext cx="5074920" cy="384048"/>
          </a:xfrm>
          <a:prstGeom prst="rect">
            <a:avLst/>
          </a:prstGeom>
          <a:solidFill>
            <a:srgbClr val="0A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1280160"/>
            <a:ext cx="4846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CHALLENGE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1234440"/>
            <a:ext cx="8503920" cy="38404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06440" y="128016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9240" y="1234440"/>
            <a:ext cx="251460" cy="4927369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1691640"/>
            <a:ext cx="5074920" cy="1389888"/>
          </a:xfrm>
          <a:prstGeom prst="rect">
            <a:avLst/>
          </a:prstGeom>
          <a:solidFill>
            <a:srgbClr val="FFF8E8"/>
          </a:solidFill>
          <a:ln w="1016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1691640"/>
            <a:ext cx="64008" cy="1389888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1728216"/>
            <a:ext cx="47548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dirty="0">
                <a:solidFill>
                  <a:srgbClr val="F39C12"/>
                </a:solidFill>
                <a:latin typeface="Calibri"/>
              </a:rPr>
              <a:t> BIGGEST PAIN 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96596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Missing Lok Sabha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313432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Calibri"/>
              </a:rPr>
              <a:t>7 states had no LS files in initial data package.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0" y="1691640"/>
            <a:ext cx="8503920" cy="1389888"/>
          </a:xfrm>
          <a:prstGeom prst="rect">
            <a:avLst/>
          </a:prstGeom>
          <a:solidFill>
            <a:srgbClr val="F0F7FF"/>
          </a:solidFill>
          <a:ln w="1016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669280" y="1691640"/>
            <a:ext cx="64008" cy="13898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79008" y="1764792"/>
            <a:ext cx="822960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Marked for Phase 2 sourcing from ECI portal; removed from demo dataset.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172968"/>
            <a:ext cx="5074920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324612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Data Format Inconsistencies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593592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Calibri"/>
              </a:rPr>
              <a:t>36 source files had different column names and encodings.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0" y="3172968"/>
            <a:ext cx="8503920" cy="1389888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669280" y="3172968"/>
            <a:ext cx="64008" cy="13898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779008" y="3246120"/>
            <a:ext cx="822960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Built global column mapping + 200+ party abbreviation dictionary applied across all files.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654296"/>
            <a:ext cx="5074920" cy="1389888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6928" y="4727448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Bypoll Dataset Delays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074920"/>
            <a:ext cx="4754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230"/>
                </a:solidFill>
                <a:latin typeface="Calibri"/>
              </a:rPr>
              <a:t>Bypoll files stored separately; not integrated initially.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4654296"/>
            <a:ext cx="8503920" cy="1389888"/>
          </a:xfrm>
          <a:prstGeom prst="rect">
            <a:avLst/>
          </a:prstGeom>
          <a:solidFill>
            <a:srgbClr val="F0F4F8"/>
          </a:solidFill>
          <a:ln w="6350">
            <a:solidFill>
              <a:srgbClr val="D0D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669280" y="4654295"/>
            <a:ext cx="64008" cy="150751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779008" y="4727448"/>
            <a:ext cx="822960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30"/>
                </a:solidFill>
                <a:latin typeface="Calibri"/>
              </a:rPr>
              <a:t>Created dedicated Bypoll CSV pipeline — 346 records now validated and integrated.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AE6B5-E155-0C36-20DA-5C01A9BEE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E603351-B2F9-FFB1-CEA6-1ED4656C9992}"/>
              </a:ext>
            </a:extLst>
          </p:cNvPr>
          <p:cNvSpPr/>
          <p:nvPr/>
        </p:nvSpPr>
        <p:spPr>
          <a:xfrm>
            <a:off x="0" y="0"/>
            <a:ext cx="14630400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9262DE-F018-52C6-987B-636E0831AC39}"/>
              </a:ext>
            </a:extLst>
          </p:cNvPr>
          <p:cNvSpPr txBox="1"/>
          <p:nvPr/>
        </p:nvSpPr>
        <p:spPr>
          <a:xfrm>
            <a:off x="274320" y="91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solidFill>
                  <a:srgbClr val="FFFFFF"/>
                </a:solidFill>
              </a:rPr>
              <a:t>Demo Dashboard </a:t>
            </a:r>
            <a:r>
              <a:rPr lang="en-IN" sz="1800" b="1" i="0" dirty="0">
                <a:solidFill>
                  <a:srgbClr val="FFFFFF"/>
                </a:solidFill>
              </a:rPr>
              <a:t>(</a:t>
            </a:r>
            <a:r>
              <a:rPr sz="1800" b="1" i="0" dirty="0">
                <a:solidFill>
                  <a:srgbClr val="FFFFFF"/>
                </a:solidFill>
              </a:rPr>
              <a:t>with </a:t>
            </a:r>
            <a:r>
              <a:rPr lang="en-IN" b="1" dirty="0">
                <a:solidFill>
                  <a:srgbClr val="FFFFFF"/>
                </a:solidFill>
              </a:rPr>
              <a:t>36</a:t>
            </a:r>
            <a:r>
              <a:rPr sz="1800" b="1" i="0" dirty="0">
                <a:solidFill>
                  <a:srgbClr val="FFFFFF"/>
                </a:solidFill>
              </a:rPr>
              <a:t> States Completed)</a:t>
            </a: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37E8E32B-2251-9D29-9493-B7445C1FAF3A}"/>
              </a:ext>
            </a:extLst>
          </p:cNvPr>
          <p:cNvSpPr txBox="1"/>
          <p:nvPr/>
        </p:nvSpPr>
        <p:spPr>
          <a:xfrm>
            <a:off x="274320" y="45720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</a:rPr>
              <a:t>India Election Analytics  ·  Lok Sabha  ·  Vidhan Sabha  ·  1951–2025</a:t>
            </a: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4F1B4FDF-8103-B459-1505-0146D341A21A}"/>
              </a:ext>
            </a:extLst>
          </p:cNvPr>
          <p:cNvSpPr/>
          <p:nvPr/>
        </p:nvSpPr>
        <p:spPr>
          <a:xfrm>
            <a:off x="0" y="769838"/>
            <a:ext cx="14630400" cy="1828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D5E6F4-782A-D263-7ACA-1F2225858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4815"/>
            <a:ext cx="14630400" cy="7444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6390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4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601200" cy="8229600"/>
          </a:xfrm>
          <a:prstGeom prst="rect">
            <a:avLst/>
          </a:prstGeom>
          <a:solidFill>
            <a:srgbClr val="08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8961120" cy="8229600"/>
          </a:xfrm>
          <a:prstGeom prst="rect">
            <a:avLst/>
          </a:prstGeom>
          <a:solidFill>
            <a:srgbClr val="060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54864" cy="8229600"/>
          </a:xfrm>
          <a:prstGeom prst="rect">
            <a:avLst/>
          </a:prstGeom>
          <a:solidFill>
            <a:srgbClr val="00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052560" y="0"/>
            <a:ext cx="54864" cy="8229600"/>
          </a:xfrm>
          <a:prstGeom prst="rect">
            <a:avLst/>
          </a:prstGeom>
          <a:solidFill>
            <a:srgbClr val="004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0" y="0"/>
            <a:ext cx="54864" cy="8229600"/>
          </a:xfrm>
          <a:prstGeom prst="rect">
            <a:avLst/>
          </a:prstGeom>
          <a:solidFill>
            <a:srgbClr val="00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35440" y="0"/>
            <a:ext cx="54864" cy="8229600"/>
          </a:xfrm>
          <a:prstGeom prst="rect">
            <a:avLst/>
          </a:prstGeom>
          <a:solidFill>
            <a:srgbClr val="003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326880" y="0"/>
            <a:ext cx="54864" cy="8229600"/>
          </a:xfrm>
          <a:prstGeom prst="rect">
            <a:avLst/>
          </a:prstGeom>
          <a:solidFill>
            <a:srgbClr val="0034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418320" y="0"/>
            <a:ext cx="54864" cy="8229600"/>
          </a:xfrm>
          <a:prstGeom prst="rect">
            <a:avLst/>
          </a:prstGeom>
          <a:solidFill>
            <a:srgbClr val="003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509760" y="0"/>
            <a:ext cx="54864" cy="8229600"/>
          </a:xfrm>
          <a:prstGeom prst="rect">
            <a:avLst/>
          </a:prstGeom>
          <a:solidFill>
            <a:srgbClr val="002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601200" y="0"/>
            <a:ext cx="54864" cy="8229600"/>
          </a:xfrm>
          <a:prstGeom prst="rect">
            <a:avLst/>
          </a:prstGeom>
          <a:solidFill>
            <a:srgbClr val="002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692640" y="0"/>
            <a:ext cx="4937760" cy="8229600"/>
          </a:xfrm>
          <a:prstGeom prst="rect">
            <a:avLst/>
          </a:prstGeom>
          <a:solidFill>
            <a:srgbClr val="0409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430000" y="3200400"/>
            <a:ext cx="5943600" cy="5943600"/>
          </a:xfrm>
          <a:prstGeom prst="ellipse">
            <a:avLst/>
          </a:prstGeom>
          <a:solidFill>
            <a:srgbClr val="00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887200" y="3840480"/>
            <a:ext cx="5029200" cy="5029200"/>
          </a:xfrm>
          <a:prstGeom prst="ellipse">
            <a:avLst/>
          </a:prstGeom>
          <a:solidFill>
            <a:srgbClr val="00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435840" y="4480560"/>
            <a:ext cx="3840480" cy="3840480"/>
          </a:xfrm>
          <a:prstGeom prst="ellipse">
            <a:avLst/>
          </a:prstGeom>
          <a:solidFill>
            <a:srgbClr val="00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97280" y="320040"/>
            <a:ext cx="475488" cy="475488"/>
          </a:xfrm>
          <a:prstGeom prst="ellipse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02920" y="713232"/>
            <a:ext cx="292608" cy="292608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828800" y="228600"/>
            <a:ext cx="182880" cy="182880"/>
          </a:xfrm>
          <a:prstGeom prst="ellipse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4630400" cy="5029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1371600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Thank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359152"/>
            <a:ext cx="8686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0077CC"/>
                </a:solidFill>
                <a:latin typeface="Calibri"/>
              </a:rPr>
              <a:t>You!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401568"/>
            <a:ext cx="5029200" cy="5486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66928" y="4114800"/>
            <a:ext cx="5943600" cy="65836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" y="4169663"/>
            <a:ext cx="58338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🎤   We'd love to answer your questions!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1234440"/>
            <a:ext cx="4343400" cy="5120640"/>
          </a:xfrm>
          <a:prstGeom prst="rect">
            <a:avLst/>
          </a:prstGeom>
          <a:solidFill>
            <a:srgbClr val="061020"/>
          </a:solidFill>
          <a:ln w="12700">
            <a:solidFill>
              <a:srgbClr val="102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921240" y="1234440"/>
            <a:ext cx="4343400" cy="4572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12680" y="1298448"/>
            <a:ext cx="4160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7CC"/>
                </a:solidFill>
                <a:latin typeface="Calibri"/>
              </a:rPr>
              <a:t>PRESENTED BY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12680" y="1691640"/>
            <a:ext cx="4160520" cy="685800"/>
          </a:xfrm>
          <a:prstGeom prst="rect">
            <a:avLst/>
          </a:prstGeom>
          <a:solidFill>
            <a:srgbClr val="08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0012680" y="1691640"/>
            <a:ext cx="64008" cy="6858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168128" y="174650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077CC"/>
                </a:solidFill>
                <a:latin typeface="Calibri"/>
              </a:rPr>
              <a:t>Hamiz</a:t>
            </a:r>
            <a:r>
              <a:rPr lang="en-IN" sz="1400" b="1" i="0" dirty="0">
                <a:solidFill>
                  <a:srgbClr val="0077CC"/>
                </a:solidFill>
                <a:latin typeface="Calibri"/>
              </a:rPr>
              <a:t> K</a:t>
            </a:r>
            <a:endParaRPr sz="1400" b="1" i="0" dirty="0">
              <a:solidFill>
                <a:srgbClr val="0077CC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168128" y="2075688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90AA"/>
                </a:solidFill>
                <a:latin typeface="Calibri"/>
              </a:rPr>
              <a:t>Team Lead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12680" y="2441448"/>
            <a:ext cx="4160520" cy="685800"/>
          </a:xfrm>
          <a:prstGeom prst="rect">
            <a:avLst/>
          </a:prstGeom>
          <a:solidFill>
            <a:srgbClr val="08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012680" y="2441448"/>
            <a:ext cx="64008" cy="685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168128" y="249631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AE60"/>
                </a:solidFill>
                <a:latin typeface="Calibri"/>
              </a:rPr>
              <a:t>Karishma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68128" y="2825496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90AA"/>
                </a:solidFill>
                <a:latin typeface="Calibri"/>
              </a:rPr>
              <a:t>Data Analyst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12680" y="3191256"/>
            <a:ext cx="4160520" cy="685800"/>
          </a:xfrm>
          <a:prstGeom prst="rect">
            <a:avLst/>
          </a:prstGeom>
          <a:solidFill>
            <a:srgbClr val="08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0012680" y="3191256"/>
            <a:ext cx="64008" cy="6858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168128" y="32461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E44AD"/>
                </a:solidFill>
                <a:latin typeface="Calibri"/>
              </a:rPr>
              <a:t>Vennela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68128" y="3575304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90AA"/>
                </a:solidFill>
                <a:latin typeface="Calibri"/>
              </a:rPr>
              <a:t>Data Analyst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12680" y="3941064"/>
            <a:ext cx="4160520" cy="685800"/>
          </a:xfrm>
          <a:prstGeom prst="rect">
            <a:avLst/>
          </a:prstGeom>
          <a:solidFill>
            <a:srgbClr val="08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0012680" y="3941064"/>
            <a:ext cx="64008" cy="68580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168128" y="39959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35400"/>
                </a:solidFill>
                <a:latin typeface="Calibri"/>
              </a:rPr>
              <a:t>Aman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68128" y="4325112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90AA"/>
                </a:solidFill>
                <a:latin typeface="Calibri"/>
              </a:rPr>
              <a:t>Data Analyst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12680" y="4690872"/>
            <a:ext cx="4160520" cy="685800"/>
          </a:xfrm>
          <a:prstGeom prst="rect">
            <a:avLst/>
          </a:prstGeom>
          <a:solidFill>
            <a:srgbClr val="08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012680" y="4690872"/>
            <a:ext cx="64008" cy="6858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168128" y="474573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39C12"/>
                </a:solidFill>
                <a:latin typeface="Calibri"/>
              </a:rPr>
              <a:t>Gajavadan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68128" y="5074920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90AA"/>
                </a:solidFill>
                <a:latin typeface="Calibri"/>
              </a:rPr>
              <a:t>Member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5833872"/>
            <a:ext cx="14630400" cy="2167128"/>
          </a:xfrm>
          <a:prstGeom prst="rect">
            <a:avLst/>
          </a:prstGeom>
          <a:solidFill>
            <a:srgbClr val="050B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0" y="5833872"/>
            <a:ext cx="14630400" cy="4114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66928" y="6473952"/>
            <a:ext cx="3291840" cy="502920"/>
          </a:xfrm>
          <a:prstGeom prst="rect">
            <a:avLst/>
          </a:prstGeom>
          <a:solidFill>
            <a:srgbClr val="081428"/>
          </a:solidFill>
          <a:ln w="6350">
            <a:solidFill>
              <a:srgbClr val="122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58368" y="6510528"/>
            <a:ext cx="3154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8E0"/>
                </a:solidFill>
                <a:latin typeface="Calibri"/>
              </a:rPr>
              <a:t>📁  Master Dataset (36 States)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23360" y="6473952"/>
            <a:ext cx="3291840" cy="502920"/>
          </a:xfrm>
          <a:prstGeom prst="rect">
            <a:avLst/>
          </a:prstGeom>
          <a:solidFill>
            <a:srgbClr val="081428"/>
          </a:solidFill>
          <a:ln w="6350">
            <a:solidFill>
              <a:srgbClr val="122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114800" y="6510528"/>
            <a:ext cx="3154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8E0"/>
                </a:solidFill>
                <a:latin typeface="Calibri"/>
              </a:rPr>
              <a:t>📊  Power BI Dashboard (5 Pages)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79792" y="6473952"/>
            <a:ext cx="3291840" cy="502920"/>
          </a:xfrm>
          <a:prstGeom prst="rect">
            <a:avLst/>
          </a:prstGeom>
          <a:solidFill>
            <a:srgbClr val="081428"/>
          </a:solidFill>
          <a:ln w="6350">
            <a:solidFill>
              <a:srgbClr val="122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571232" y="6510528"/>
            <a:ext cx="3154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8E0"/>
                </a:solidFill>
                <a:latin typeface="Calibri"/>
              </a:rPr>
              <a:t>📄  Final PPT Report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936224" y="6473952"/>
            <a:ext cx="3291840" cy="502920"/>
          </a:xfrm>
          <a:prstGeom prst="rect">
            <a:avLst/>
          </a:prstGeom>
          <a:solidFill>
            <a:srgbClr val="081428"/>
          </a:solidFill>
          <a:ln w="6350">
            <a:solidFill>
              <a:srgbClr val="1226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1027664" y="6510528"/>
            <a:ext cx="3154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8E0"/>
                </a:solidFill>
                <a:latin typeface="Calibri"/>
              </a:rPr>
              <a:t>🗂️  GitHub Repository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8138160"/>
            <a:ext cx="14630400" cy="9144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11567160" y="182880"/>
            <a:ext cx="64008" cy="65836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11567160" y="800100"/>
            <a:ext cx="2880360" cy="41148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1115</TotalTime>
  <Words>2007</Words>
  <Application>Microsoft Office PowerPoint</Application>
  <PresentationFormat>Custom</PresentationFormat>
  <Paragraphs>461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Hamiz K</cp:lastModifiedBy>
  <cp:revision>28</cp:revision>
  <dcterms:created xsi:type="dcterms:W3CDTF">2013-01-27T09:14:16Z</dcterms:created>
  <dcterms:modified xsi:type="dcterms:W3CDTF">2026-03-04T16:26:45Z</dcterms:modified>
  <cp:category/>
</cp:coreProperties>
</file>